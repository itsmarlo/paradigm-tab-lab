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b6ea2f07344353" /><Relationship Type="http://schemas.openxmlformats.org/officeDocument/2006/relationships/extended-properties" Target="/docProps/app.xml" Id="R8cf3dde3a0dc41a0" /><Relationship Type="http://schemas.openxmlformats.org/officeDocument/2006/relationships/officeDocument" Target="/ppt/presentation.xml" Id="R41df7dfba1d449c8" /></Relationships>
</file>

<file path=ppt/presentation.xml><?xml version="1.0" encoding="utf-8"?>
<p:presentation xmlns:p="http://schemas.openxmlformats.org/presentationml/2006/main">
  <p:sldMasterIdLst>
    <p:sldMasterId xmlns:r="http://schemas.openxmlformats.org/officeDocument/2006/relationships" id="2147483648" r:id="R9219ff9554ca4bfe"/>
  </p:sldMasterIdLst>
  <p:notesMasterIdLst>
    <p:notesMasterId xmlns:r="http://schemas.openxmlformats.org/officeDocument/2006/relationships" r:id="Rfb89417115b0477a"/>
  </p:notesMasterIdLst>
  <p:sldIdLst>
    <p:sldId xmlns:r="http://schemas.openxmlformats.org/officeDocument/2006/relationships" id="256" r:id="R12899d4f04324f5a"/>
    <p:sldId xmlns:r="http://schemas.openxmlformats.org/officeDocument/2006/relationships" id="257" r:id="R1d69140054a0480b"/>
    <p:sldId xmlns:r="http://schemas.openxmlformats.org/officeDocument/2006/relationships" id="258" r:id="Reddb58005c8d4cfd"/>
    <p:sldId xmlns:r="http://schemas.openxmlformats.org/officeDocument/2006/relationships" id="259" r:id="Re2b6018d633e4a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184c93e253466e" /><Relationship Type="http://schemas.openxmlformats.org/officeDocument/2006/relationships/slideMaster" Target="/ppt/slideMasters/slideMaster1.xml" Id="R9219ff9554ca4bfe" /><Relationship Type="http://schemas.openxmlformats.org/officeDocument/2006/relationships/notesMaster" Target="/ppt/notesMasters/notesMaster1.xml" Id="Rfb89417115b0477a" /><Relationship Type="http://schemas.openxmlformats.org/officeDocument/2006/relationships/presProps" Target="/ppt/presProps.xml" Id="R0397bc228597437c" /><Relationship Type="http://schemas.openxmlformats.org/officeDocument/2006/relationships/tableStyles" Target="/ppt/tableStyles.xml" Id="R2335927366bf4ebc" /><Relationship Type="http://schemas.openxmlformats.org/officeDocument/2006/relationships/slide" Target="/ppt/slides/slide1.xml" Id="R12899d4f04324f5a" /><Relationship Type="http://schemas.openxmlformats.org/officeDocument/2006/relationships/slide" Target="/ppt/slides/slide2.xml" Id="R1d69140054a0480b" /><Relationship Type="http://schemas.openxmlformats.org/officeDocument/2006/relationships/slide" Target="/ppt/slides/slide3.xml" Id="Reddb58005c8d4cfd" /><Relationship Type="http://schemas.openxmlformats.org/officeDocument/2006/relationships/slide" Target="/ppt/slides/slide4.xml" Id="Re2b6018d633e4a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c6e256ef2f49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baf4f8c1d540f0" /><Relationship Type="http://schemas.openxmlformats.org/officeDocument/2006/relationships/notesMaster" Target="/ppt/notesMasters/notesMaster1.xml" Id="R083c0417cdfe4b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777c32f7c4578" /><Relationship Type="http://schemas.openxmlformats.org/officeDocument/2006/relationships/notesMaster" Target="/ppt/notesMasters/notesMaster1.xml" Id="Ra7522749bb9f48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48a5554a354861" /><Relationship Type="http://schemas.openxmlformats.org/officeDocument/2006/relationships/notesMaster" Target="/ppt/notesMasters/notesMaster1.xml" Id="R533f58c3544a49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bbc1a81613426c" /><Relationship Type="http://schemas.openxmlformats.org/officeDocument/2006/relationships/notesMaster" Target="/ppt/notesMasters/notesMaster1.xml" Id="R0b18c8a3de904d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and reports/original_22_case_context_comparison.md. The original source has 1,152 synthetic invoices. The first 1,024 are eligible examples. The last 128 are held out and include 22 fraud cases. XGBoost is refit on the selected rows; SAP RPT model weights stay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notebooks/context_engineering/00_original_22_case_context_workflow.ipynb and reports/original_22_case_context_comparison.md. The balanced fraud context contains 64 positive and 64 negative examples; the random control contains 27 positive and 101 negative examples. The same budget, request schema, and test rows are used. SAP RPT weights stay fixed. XGBoost is refit on each selected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data/original_context_comparison/results.csv and reports/original_22_case_context_comparison.md. Same 128 held-out test invoices and 22 fraud cases. Random to balanced: XGBoost true positives 10 to 16, false positives 20 to 32, F1 0.385 to 0.457. SAP RPT true positives 10 to 16, false positives 3 to 12, F1 0.571 to 0.640. The original 1,024-row benchmark is shown only as historical context because both the budget and SAP request schema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reports/original_22_case_context_comparison.md and data/original_context_comparison/results.csv. The RPT improvement claim applies to fraud only. Recall rises from 10/22 to 16/22, or 45.5% to 72.7%. Precision falls from 76.9% to 57.1% as false positives rise. This is descriptive evidence from one synthetic split and one selection seed, not a production ranking. The separate eight-case pilot uses revised labels and is intentionally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8cc9c75ed249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099dde419e473c" /><Relationship Type="http://schemas.openxmlformats.org/officeDocument/2006/relationships/slideLayout" Target="/ppt/slideLayouts/slideLayout1.xml" Id="Re05d23f7fce546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5d23f7fce546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b314be671d455d" /><Relationship Type="http://schemas.openxmlformats.org/officeDocument/2006/relationships/image" Target="/ppt/media/image.png" Id="Rfe6ae5b4be7a4139" /><Relationship Type="http://schemas.openxmlformats.org/officeDocument/2006/relationships/image" Target="/ppt/media/image.svg" Id="R23715d01e979418c" /><Relationship Type="http://schemas.openxmlformats.org/officeDocument/2006/relationships/notesSlide" Target="/ppt/notesSlides/notesSlide1.xml" Id="R44a6bfef51c743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f0215af8214020" /><Relationship Type="http://schemas.openxmlformats.org/officeDocument/2006/relationships/image" Target="/ppt/media/image2.png" Id="Rb610b8e9629a400f" /><Relationship Type="http://schemas.openxmlformats.org/officeDocument/2006/relationships/image" Target="/ppt/media/image2.svg" Id="R5d7cfe9760474684" /><Relationship Type="http://schemas.openxmlformats.org/officeDocument/2006/relationships/notesSlide" Target="/ppt/notesSlides/notesSlide2.xml" Id="R7776cdf111d140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38e5ac0fa5487f" /><Relationship Type="http://schemas.openxmlformats.org/officeDocument/2006/relationships/image" Target="/ppt/media/image3.png" Id="Rd1b26c6f2ad9425e" /><Relationship Type="http://schemas.openxmlformats.org/officeDocument/2006/relationships/image" Target="/ppt/media/image3.svg" Id="R5becbad24db84248" /><Relationship Type="http://schemas.openxmlformats.org/officeDocument/2006/relationships/notesSlide" Target="/ppt/notesSlides/notesSlide3.xml" Id="R4170c03e340a43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a73436c5d343b4" /><Relationship Type="http://schemas.openxmlformats.org/officeDocument/2006/relationships/image" Target="/ppt/media/image4.png" Id="Rab5813a1920c4746" /><Relationship Type="http://schemas.openxmlformats.org/officeDocument/2006/relationships/image" Target="/ppt/media/image4.svg" Id="R21fd1f983a984f9d" /><Relationship Type="http://schemas.openxmlformats.org/officeDocument/2006/relationships/notesSlide" Target="/ppt/notesSlides/notesSlide4.xml" Id="Re14a031111c547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096383D-E718-45A6-BC81-4C350FAEB55D}"/>
              </a:ext>
            </a:extLst>
          </p:cNvPr>
          <p:cNvSpPr>
            <a:spLocks xmlns:a="http://schemas.openxmlformats.org/drawingml/2006/main" noGrp="1"/>
          </p:cNvSpPr>
          <p:nvPr/>
        </p:nvSpPr>
        <p:spPr>
          <a:xfrm xmlns:a="http://schemas.openxmlformats.org/drawingml/2006/main">
            <a:off x="247650" y="342900"/>
            <a:ext cx="171450" cy="17145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7EC8C2-BF6F-4B33-B623-4EFD8E4D7891}"/>
              </a:ext>
            </a:extLst>
          </p:cNvPr>
          <p:cNvSpPr>
            <a:spLocks xmlns:a="http://schemas.openxmlformats.org/drawingml/2006/main" noGrp="1"/>
          </p:cNvSpPr>
          <p:nvPr/>
        </p:nvSpPr>
        <p:spPr>
          <a:xfrm xmlns:a="http://schemas.openxmlformats.org/drawingml/2006/main">
            <a:off x="495300" y="266700"/>
            <a:ext cx="3171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63BFF"/>
                </a:solidFill>
                <a:latin typeface="Arial"/>
                <a:ea typeface="Arial"/>
                <a:cs typeface="Arial"/>
              </a:defRPr>
            </a:pPr>
            <a:r>
              <a:rPr sz="2175" b="1">
                <a:solidFill>
                  <a:srgbClr val="163BFF"/>
                </a:solidFill>
                <a:latin typeface="Arial"/>
                <a:ea typeface="Arial"/>
                <a:cs typeface="Arial"/>
              </a:rPr>
              <a:t>Context experiment</a:t>
            </a:r>
          </a:p>
        </p:txBody>
      </p:sp>
      <p:sp>
        <p:nvSpPr>
          <p:cNvPr id="3" name="">
            <a:extLst xmlns:a="http://schemas.openxmlformats.org/drawingml/2006/main">
              <a:ext uri="{FF2B5EF4-FFF2-40B4-BE49-F238E27FC236}">
                <a16:creationId xmlns:a16="http://schemas.microsoft.com/office/drawing/2014/main" id="{7745C0B8-09A9-4CF2-A5F6-C5E869BDB6A3}"/>
              </a:ext>
            </a:extLst>
          </p:cNvPr>
          <p:cNvSpPr>
            <a:spLocks xmlns:a="http://schemas.openxmlformats.org/drawingml/2006/main" noGrp="1"/>
          </p:cNvSpPr>
          <p:nvPr/>
        </p:nvSpPr>
        <p:spPr>
          <a:xfrm xmlns:a="http://schemas.openxmlformats.org/drawingml/2006/main">
            <a:off x="3667125" y="266700"/>
            <a:ext cx="768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11111"/>
                </a:solidFill>
                <a:latin typeface="Arial"/>
                <a:ea typeface="Arial"/>
                <a:cs typeface="Arial"/>
              </a:defRPr>
            </a:pPr>
            <a:r>
              <a:rPr sz="2175" b="1">
                <a:solidFill>
                  <a:srgbClr val="111111"/>
                </a:solidFill>
                <a:latin typeface="Arial"/>
                <a:ea typeface="Arial"/>
                <a:cs typeface="Arial"/>
              </a:rPr>
              <a:t> | Same invoices, controlled comparison</a:t>
            </a:r>
          </a:p>
        </p:txBody>
      </p:sp>
      <p:sp>
        <p:nvSpPr>
          <p:cNvPr id="4" name="">
            <a:extLst xmlns:a="http://schemas.openxmlformats.org/drawingml/2006/main">
              <a:ext uri="{FF2B5EF4-FFF2-40B4-BE49-F238E27FC236}">
                <a16:creationId xmlns:a16="http://schemas.microsoft.com/office/drawing/2014/main" id="{80BFB388-10CF-4702-9B31-BFF8EB2E952B}"/>
              </a:ext>
            </a:extLst>
          </p:cNvPr>
          <p:cNvSpPr>
            <a:spLocks xmlns:a="http://schemas.openxmlformats.org/drawingml/2006/main" noGrp="1"/>
          </p:cNvSpPr>
          <p:nvPr/>
        </p:nvSpPr>
        <p:spPr>
          <a:xfrm xmlns:a="http://schemas.openxmlformats.org/drawingml/2006/main">
            <a:off x="247650" y="649605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2026 SAP Fioneer. All rights reserved.  |  Public</a:t>
            </a:r>
          </a:p>
        </p:txBody>
      </p:sp>
      <p:sp>
        <p:nvSpPr>
          <p:cNvPr id="5" name="">
            <a:extLst xmlns:a="http://schemas.openxmlformats.org/drawingml/2006/main">
              <a:ext uri="{FF2B5EF4-FFF2-40B4-BE49-F238E27FC236}">
                <a16:creationId xmlns:a16="http://schemas.microsoft.com/office/drawing/2014/main" id="{396B962C-3A22-4B6A-9D85-81CC74B38B5F}"/>
              </a:ext>
            </a:extLst>
          </p:cNvPr>
          <p:cNvSpPr>
            <a:spLocks xmlns:a="http://schemas.openxmlformats.org/drawingml/2006/main" noGrp="1"/>
          </p:cNvSpPr>
          <p:nvPr/>
        </p:nvSpPr>
        <p:spPr>
          <a:xfrm xmlns:a="http://schemas.openxmlformats.org/drawingml/2006/main">
            <a:off x="10239375" y="6496050"/>
            <a:ext cx="209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1</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e6ae5b4be7a4139">
            <a:extLst>
              <a:ext uri="{96DAC541-7B7A-43D3-8B79-37D633B846F1}">
                <asvg:svgBlip xmlns:asvg="http://schemas.microsoft.com/office/drawing/2016/SVG/main" r:embed="R23715d01e979418c"/>
              </a:ext>
            </a:extLst>
          </a:blip>
          <a:stretch xmlns:a="http://schemas.openxmlformats.org/drawingml/2006/main"/>
        </p:blipFill>
        <p:spPr>
          <a:xfrm xmlns:a="http://schemas.openxmlformats.org/drawingml/2006/main">
            <a:off x="10620375" y="6334125"/>
            <a:ext cx="1333500" cy="390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FA7346-1760-4FB5-BA13-BC1BD539D99C}"/>
              </a:ext>
            </a:extLst>
          </p:cNvPr>
          <p:cNvSpPr>
            <a:spLocks xmlns:a="http://schemas.openxmlformats.org/drawingml/2006/main" noGrp="1"/>
          </p:cNvSpPr>
          <p:nvPr/>
        </p:nvSpPr>
        <p:spPr>
          <a:xfrm xmlns:a="http://schemas.openxmlformats.org/drawingml/2006/main">
            <a:off x="714375" y="9525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163BFF"/>
                </a:solidFill>
                <a:latin typeface="Arial"/>
                <a:ea typeface="Arial"/>
                <a:cs typeface="Arial"/>
              </a:defRPr>
            </a:pPr>
            <a:r>
              <a:rPr sz="2250" b="1">
                <a:solidFill>
                  <a:srgbClr val="163BFF"/>
                </a:solidFill>
                <a:latin typeface="Arial"/>
                <a:ea typeface="Arial"/>
                <a:cs typeface="Arial"/>
              </a:rPr>
              <a:t>One test set. Two ways to use labeled rows.</a:t>
            </a:r>
          </a:p>
        </p:txBody>
      </p:sp>
      <p:sp>
        <p:nvSpPr>
          <p:cNvPr id="8" name="">
            <a:extLst xmlns:a="http://schemas.openxmlformats.org/drawingml/2006/main">
              <a:ext uri="{FF2B5EF4-FFF2-40B4-BE49-F238E27FC236}">
                <a16:creationId xmlns:a16="http://schemas.microsoft.com/office/drawing/2014/main" id="{FB07D0C3-9E31-4F79-92EC-8B7D303ADC8C}"/>
              </a:ext>
            </a:extLst>
          </p:cNvPr>
          <p:cNvSpPr>
            <a:spLocks xmlns:a="http://schemas.openxmlformats.org/drawingml/2006/main" noGrp="1"/>
          </p:cNvSpPr>
          <p:nvPr/>
        </p:nvSpPr>
        <p:spPr>
          <a:xfrm xmlns:a="http://schemas.openxmlformats.org/drawingml/2006/main">
            <a:off x="733425" y="1819275"/>
            <a:ext cx="2476500" cy="723900"/>
          </a:xfrm>
          <a:prstGeom xmlns:a="http://schemas.openxmlformats.org/drawingml/2006/main" prst="roundRect">
            <a:avLst>
              <a:gd name="adj" fmla="val 17105"/>
            </a:avLst>
          </a:prstGeom>
          <a:solidFill xmlns:a="http://schemas.openxmlformats.org/drawingml/2006/main">
            <a:srgbClr val="D9E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1532D53-4513-4D90-8EDE-1CC26CE17CCE}"/>
              </a:ext>
            </a:extLst>
          </p:cNvPr>
          <p:cNvSpPr>
            <a:spLocks xmlns:a="http://schemas.openxmlformats.org/drawingml/2006/main" noGrp="1"/>
          </p:cNvSpPr>
          <p:nvPr/>
        </p:nvSpPr>
        <p:spPr>
          <a:xfrm xmlns:a="http://schemas.openxmlformats.org/drawingml/2006/main">
            <a:off x="828675" y="187642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11111"/>
                </a:solidFill>
                <a:latin typeface="Arial"/>
                <a:ea typeface="Arial"/>
                <a:cs typeface="Arial"/>
              </a:defRPr>
            </a:pPr>
            <a:r>
              <a:rPr sz="1650" b="1">
                <a:solidFill>
                  <a:srgbClr val="111111"/>
                </a:solidFill>
                <a:latin typeface="Arial"/>
                <a:ea typeface="Arial"/>
                <a:cs typeface="Arial"/>
              </a:rPr>
              <a:t>1,152 synthetic invoices</a:t>
            </a:r>
          </a:p>
        </p:txBody>
      </p:sp>
      <p:sp>
        <p:nvSpPr>
          <p:cNvPr id="10" name="">
            <a:extLst xmlns:a="http://schemas.openxmlformats.org/drawingml/2006/main">
              <a:ext uri="{FF2B5EF4-FFF2-40B4-BE49-F238E27FC236}">
                <a16:creationId xmlns:a16="http://schemas.microsoft.com/office/drawing/2014/main" id="{DFCE331E-A348-4128-BC0E-7CC6008432C0}"/>
              </a:ext>
            </a:extLst>
          </p:cNvPr>
          <p:cNvSpPr>
            <a:spLocks xmlns:a="http://schemas.openxmlformats.org/drawingml/2006/main" noGrp="1"/>
          </p:cNvSpPr>
          <p:nvPr/>
        </p:nvSpPr>
        <p:spPr>
          <a:xfrm xmlns:a="http://schemas.openxmlformats.org/drawingml/2006/main">
            <a:off x="3381375" y="2085975"/>
            <a:ext cx="409575" cy="190500"/>
          </a:xfrm>
          <a:prstGeom xmlns:a="http://schemas.openxmlformats.org/drawingml/2006/main" prst="rightArrow">
            <a:avLst/>
          </a:prstGeom>
          <a:solidFill xmlns:a="http://schemas.openxmlformats.org/drawingml/2006/main">
            <a:srgbClr val="163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B30AD2D-6ECE-4032-AB70-8F6B25FB1404}"/>
              </a:ext>
            </a:extLst>
          </p:cNvPr>
          <p:cNvSpPr>
            <a:spLocks xmlns:a="http://schemas.openxmlformats.org/drawingml/2006/main" noGrp="1"/>
          </p:cNvSpPr>
          <p:nvPr/>
        </p:nvSpPr>
        <p:spPr>
          <a:xfrm xmlns:a="http://schemas.openxmlformats.org/drawingml/2006/main">
            <a:off x="3952875" y="1819275"/>
            <a:ext cx="2952750" cy="723900"/>
          </a:xfrm>
          <a:prstGeom xmlns:a="http://schemas.openxmlformats.org/drawingml/2006/main" prst="roundRect">
            <a:avLst>
              <a:gd name="adj" fmla="val 17105"/>
            </a:avLst>
          </a:prstGeom>
          <a:solidFill xmlns:a="http://schemas.openxmlformats.org/drawingml/2006/main">
            <a:srgbClr val="D9E4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3FDF88-9CCA-4B35-AED4-7DAACD447EE1}"/>
              </a:ext>
            </a:extLst>
          </p:cNvPr>
          <p:cNvSpPr>
            <a:spLocks xmlns:a="http://schemas.openxmlformats.org/drawingml/2006/main" noGrp="1"/>
          </p:cNvSpPr>
          <p:nvPr/>
        </p:nvSpPr>
        <p:spPr>
          <a:xfrm xmlns:a="http://schemas.openxmlformats.org/drawingml/2006/main">
            <a:off x="4048125" y="1876425"/>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1,024 eligible labeled rows</a:t>
            </a:r>
          </a:p>
        </p:txBody>
      </p:sp>
      <p:sp>
        <p:nvSpPr>
          <p:cNvPr id="13" name="">
            <a:extLst xmlns:a="http://schemas.openxmlformats.org/drawingml/2006/main">
              <a:ext uri="{FF2B5EF4-FFF2-40B4-BE49-F238E27FC236}">
                <a16:creationId xmlns:a16="http://schemas.microsoft.com/office/drawing/2014/main" id="{F98F22E6-AA06-4D67-B477-2A2103B87CE1}"/>
              </a:ext>
            </a:extLst>
          </p:cNvPr>
          <p:cNvSpPr>
            <a:spLocks xmlns:a="http://schemas.openxmlformats.org/drawingml/2006/main" noGrp="1"/>
          </p:cNvSpPr>
          <p:nvPr/>
        </p:nvSpPr>
        <p:spPr>
          <a:xfrm xmlns:a="http://schemas.openxmlformats.org/drawingml/2006/main">
            <a:off x="7048500" y="2085975"/>
            <a:ext cx="409575" cy="190500"/>
          </a:xfrm>
          <a:prstGeom xmlns:a="http://schemas.openxmlformats.org/drawingml/2006/main" prst="rightArrow">
            <a:avLst/>
          </a:prstGeom>
          <a:solidFill xmlns:a="http://schemas.openxmlformats.org/drawingml/2006/main">
            <a:srgbClr val="163B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DBE4324-2C5A-48B9-B0AB-1DD3919DCED7}"/>
              </a:ext>
            </a:extLst>
          </p:cNvPr>
          <p:cNvSpPr>
            <a:spLocks xmlns:a="http://schemas.openxmlformats.org/drawingml/2006/main" noGrp="1"/>
          </p:cNvSpPr>
          <p:nvPr/>
        </p:nvSpPr>
        <p:spPr>
          <a:xfrm xmlns:a="http://schemas.openxmlformats.org/drawingml/2006/main">
            <a:off x="7629525" y="1819275"/>
            <a:ext cx="3143250" cy="723900"/>
          </a:xfrm>
          <a:prstGeom xmlns:a="http://schemas.openxmlformats.org/drawingml/2006/main" prst="roundRect">
            <a:avLst>
              <a:gd name="adj" fmla="val 17105"/>
            </a:avLst>
          </a:prstGeom>
          <a:solidFill xmlns:a="http://schemas.openxmlformats.org/drawingml/2006/main">
            <a:srgbClr val="FFD3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87B43EE-0C42-4D0F-99FB-E29875568D6C}"/>
              </a:ext>
            </a:extLst>
          </p:cNvPr>
          <p:cNvSpPr>
            <a:spLocks xmlns:a="http://schemas.openxmlformats.org/drawingml/2006/main" noGrp="1"/>
          </p:cNvSpPr>
          <p:nvPr/>
        </p:nvSpPr>
        <p:spPr>
          <a:xfrm xmlns:a="http://schemas.openxmlformats.org/drawingml/2006/main">
            <a:off x="7724775" y="1876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11111"/>
                </a:solidFill>
                <a:latin typeface="Arial"/>
                <a:ea typeface="Arial"/>
                <a:cs typeface="Arial"/>
              </a:defRPr>
            </a:pPr>
            <a:r>
              <a:rPr sz="1500" b="1">
                <a:solidFill>
                  <a:srgbClr val="111111"/>
                </a:solidFill>
                <a:latin typeface="Arial"/>
                <a:ea typeface="Arial"/>
                <a:cs typeface="Arial"/>
              </a:rPr>
              <a:t>128 examples per condition</a:t>
            </a:r>
          </a:p>
        </p:txBody>
      </p:sp>
      <p:sp>
        <p:nvSpPr>
          <p:cNvPr id="16" name="">
            <a:extLst xmlns:a="http://schemas.openxmlformats.org/drawingml/2006/main">
              <a:ext uri="{FF2B5EF4-FFF2-40B4-BE49-F238E27FC236}">
                <a16:creationId xmlns:a16="http://schemas.microsoft.com/office/drawing/2014/main" id="{C4944609-68B5-486C-BBF3-DEB5AF770A16}"/>
              </a:ext>
            </a:extLst>
          </p:cNvPr>
          <p:cNvSpPr>
            <a:spLocks xmlns:a="http://schemas.openxmlformats.org/drawingml/2006/main" noGrp="1"/>
          </p:cNvSpPr>
          <p:nvPr/>
        </p:nvSpPr>
        <p:spPr>
          <a:xfrm xmlns:a="http://schemas.openxmlformats.org/drawingml/2006/main">
            <a:off x="857250" y="2857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11111"/>
                </a:solidFill>
                <a:latin typeface="Arial"/>
                <a:ea typeface="Arial"/>
                <a:cs typeface="Arial"/>
              </a:defRPr>
            </a:pPr>
            <a:r>
              <a:rPr sz="1650" b="1">
                <a:solidFill>
                  <a:srgbClr val="111111"/>
                </a:solidFill>
                <a:latin typeface="Arial"/>
                <a:ea typeface="Arial"/>
                <a:cs typeface="Arial"/>
              </a:rPr>
              <a:t>The final 128 invoices stay separate for testing, including 22 fraud cases.</a:t>
            </a:r>
          </a:p>
        </p:txBody>
      </p:sp>
      <p:sp>
        <p:nvSpPr>
          <p:cNvPr id="17" name="">
            <a:extLst xmlns:a="http://schemas.openxmlformats.org/drawingml/2006/main">
              <a:ext uri="{FF2B5EF4-FFF2-40B4-BE49-F238E27FC236}">
                <a16:creationId xmlns:a16="http://schemas.microsoft.com/office/drawing/2014/main" id="{2F756A49-132D-45F1-8476-2DA809B1F43D}"/>
              </a:ext>
            </a:extLst>
          </p:cNvPr>
          <p:cNvSpPr>
            <a:spLocks xmlns:a="http://schemas.openxmlformats.org/drawingml/2006/main" noGrp="1"/>
          </p:cNvSpPr>
          <p:nvPr/>
        </p:nvSpPr>
        <p:spPr>
          <a:xfrm xmlns:a="http://schemas.openxmlformats.org/drawingml/2006/main">
            <a:off x="1400175" y="3676650"/>
            <a:ext cx="4000500" cy="933450"/>
          </a:xfrm>
          <a:prstGeom xmlns:a="http://schemas.openxmlformats.org/drawingml/2006/main" prst="roundRect">
            <a:avLst>
              <a:gd name="adj" fmla="val 13265"/>
            </a:avLst>
          </a:prstGeom>
          <a:solidFill xmlns:a="http://schemas.openxmlformats.org/drawingml/2006/main">
            <a:srgbClr val="E8EE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606BE08-5DF6-4911-B3BA-1F0615AA6EE6}"/>
              </a:ext>
            </a:extLst>
          </p:cNvPr>
          <p:cNvSpPr>
            <a:spLocks xmlns:a="http://schemas.openxmlformats.org/drawingml/2006/main" noGrp="1"/>
          </p:cNvSpPr>
          <p:nvPr/>
        </p:nvSpPr>
        <p:spPr>
          <a:xfrm xmlns:a="http://schemas.openxmlformats.org/drawingml/2006/main">
            <a:off x="1495425" y="37338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XGBoost</a:t>
            </a:r>
          </a:p>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refits on selected rows</a:t>
            </a:r>
          </a:p>
        </p:txBody>
      </p:sp>
      <p:sp>
        <p:nvSpPr>
          <p:cNvPr id="19" name="">
            <a:extLst xmlns:a="http://schemas.openxmlformats.org/drawingml/2006/main">
              <a:ext uri="{FF2B5EF4-FFF2-40B4-BE49-F238E27FC236}">
                <a16:creationId xmlns:a16="http://schemas.microsoft.com/office/drawing/2014/main" id="{5202ADF7-CBF2-439D-BD04-1DAA7CF613E8}"/>
              </a:ext>
            </a:extLst>
          </p:cNvPr>
          <p:cNvSpPr>
            <a:spLocks xmlns:a="http://schemas.openxmlformats.org/drawingml/2006/main" noGrp="1"/>
          </p:cNvSpPr>
          <p:nvPr/>
        </p:nvSpPr>
        <p:spPr>
          <a:xfrm xmlns:a="http://schemas.openxmlformats.org/drawingml/2006/main">
            <a:off x="6791325" y="3676650"/>
            <a:ext cx="4000500" cy="933450"/>
          </a:xfrm>
          <a:prstGeom xmlns:a="http://schemas.openxmlformats.org/drawingml/2006/main" prst="roundRect">
            <a:avLst>
              <a:gd name="adj" fmla="val 13265"/>
            </a:avLst>
          </a:prstGeom>
          <a:solidFill xmlns:a="http://schemas.openxmlformats.org/drawingml/2006/main">
            <a:srgbClr val="E8EE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298207-1011-4545-9A7C-FFAB62B82BAC}"/>
              </a:ext>
            </a:extLst>
          </p:cNvPr>
          <p:cNvSpPr>
            <a:spLocks xmlns:a="http://schemas.openxmlformats.org/drawingml/2006/main" noGrp="1"/>
          </p:cNvSpPr>
          <p:nvPr/>
        </p:nvSpPr>
        <p:spPr>
          <a:xfrm xmlns:a="http://schemas.openxmlformats.org/drawingml/2006/main">
            <a:off x="6886575" y="37338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SAP RPT</a:t>
            </a:r>
          </a:p>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reads selected rows as context</a:t>
            </a:r>
          </a:p>
        </p:txBody>
      </p:sp>
      <p:sp>
        <p:nvSpPr>
          <p:cNvPr id="21" name="">
            <a:extLst xmlns:a="http://schemas.openxmlformats.org/drawingml/2006/main">
              <a:ext uri="{FF2B5EF4-FFF2-40B4-BE49-F238E27FC236}">
                <a16:creationId xmlns:a16="http://schemas.microsoft.com/office/drawing/2014/main" id="{B29512FB-E98D-463F-9300-03ECEA2AEAEB}"/>
              </a:ext>
            </a:extLst>
          </p:cNvPr>
          <p:cNvSpPr>
            <a:spLocks xmlns:a="http://schemas.openxmlformats.org/drawingml/2006/main" noGrp="1"/>
          </p:cNvSpPr>
          <p:nvPr/>
        </p:nvSpPr>
        <p:spPr>
          <a:xfrm xmlns:a="http://schemas.openxmlformats.org/drawingml/2006/main">
            <a:off x="1619250" y="4857750"/>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63BFF"/>
                </a:solidFill>
                <a:latin typeface="Arial"/>
                <a:ea typeface="Arial"/>
                <a:cs typeface="Arial"/>
              </a:defRPr>
            </a:pPr>
            <a:r>
              <a:rPr sz="1575" b="1">
                <a:solidFill>
                  <a:srgbClr val="163BFF"/>
                </a:solidFill>
                <a:latin typeface="Arial"/>
                <a:ea typeface="Arial"/>
                <a:cs typeface="Arial"/>
              </a:rPr>
              <a:t>Same test IDs and labels for both models</a:t>
            </a:r>
          </a:p>
        </p:txBody>
      </p:sp>
      <p:sp>
        <p:nvSpPr>
          <p:cNvPr id="22" name="">
            <a:extLst xmlns:a="http://schemas.openxmlformats.org/drawingml/2006/main">
              <a:ext uri="{FF2B5EF4-FFF2-40B4-BE49-F238E27FC236}">
                <a16:creationId xmlns:a16="http://schemas.microsoft.com/office/drawing/2014/main" id="{0054D502-F996-46D8-824B-ABA0249039E2}"/>
              </a:ext>
            </a:extLst>
          </p:cNvPr>
          <p:cNvSpPr>
            <a:spLocks xmlns:a="http://schemas.openxmlformats.org/drawingml/2006/main" noGrp="1"/>
          </p:cNvSpPr>
          <p:nvPr/>
        </p:nvSpPr>
        <p:spPr>
          <a:xfrm xmlns:a="http://schemas.openxmlformats.org/drawingml/2006/main">
            <a:off x="704850" y="5553075"/>
            <a:ext cx="10782300" cy="45720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0EEC04D-067B-449C-A673-E3CD0F1E05F5}"/>
              </a:ext>
            </a:extLst>
          </p:cNvPr>
          <p:cNvSpPr>
            <a:spLocks xmlns:a="http://schemas.openxmlformats.org/drawingml/2006/main" noGrp="1"/>
          </p:cNvSpPr>
          <p:nvPr/>
        </p:nvSpPr>
        <p:spPr>
          <a:xfrm xmlns:a="http://schemas.openxmlformats.org/drawingml/2006/main">
            <a:off x="857250" y="55911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SAP RPT weights stay fixed; the selected examples change</a:t>
            </a:r>
          </a:p>
        </p:txBody>
      </p:sp>
    </p:spTree>
    <p:extLst>
      <p:ext uri="{BB962C8B-B14F-4D97-AF65-F5344CB8AC3E}">
        <p14:creationId xmlns:p14="http://schemas.microsoft.com/office/powerpoint/2010/main" val="19573271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DF90336-49CB-47B1-9194-56BDF2C4D376}"/>
              </a:ext>
            </a:extLst>
          </p:cNvPr>
          <p:cNvSpPr>
            <a:spLocks xmlns:a="http://schemas.openxmlformats.org/drawingml/2006/main" noGrp="1"/>
          </p:cNvSpPr>
          <p:nvPr/>
        </p:nvSpPr>
        <p:spPr>
          <a:xfrm xmlns:a="http://schemas.openxmlformats.org/drawingml/2006/main">
            <a:off x="247650" y="342900"/>
            <a:ext cx="171450" cy="17145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3F24BD-BE16-4080-A540-C025F46BEFA2}"/>
              </a:ext>
            </a:extLst>
          </p:cNvPr>
          <p:cNvSpPr>
            <a:spLocks xmlns:a="http://schemas.openxmlformats.org/drawingml/2006/main" noGrp="1"/>
          </p:cNvSpPr>
          <p:nvPr/>
        </p:nvSpPr>
        <p:spPr>
          <a:xfrm xmlns:a="http://schemas.openxmlformats.org/drawingml/2006/main">
            <a:off x="495300" y="266700"/>
            <a:ext cx="33480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63BFF"/>
                </a:solidFill>
                <a:latin typeface="Arial"/>
                <a:ea typeface="Arial"/>
                <a:cs typeface="Arial"/>
              </a:defRPr>
            </a:pPr>
            <a:r>
              <a:rPr sz="2175" b="1">
                <a:solidFill>
                  <a:srgbClr val="163BFF"/>
                </a:solidFill>
                <a:latin typeface="Arial"/>
                <a:ea typeface="Arial"/>
                <a:cs typeface="Arial"/>
              </a:rPr>
              <a:t>Context engineering</a:t>
            </a:r>
          </a:p>
        </p:txBody>
      </p:sp>
      <p:sp>
        <p:nvSpPr>
          <p:cNvPr id="3" name="">
            <a:extLst xmlns:a="http://schemas.openxmlformats.org/drawingml/2006/main">
              <a:ext uri="{FF2B5EF4-FFF2-40B4-BE49-F238E27FC236}">
                <a16:creationId xmlns:a16="http://schemas.microsoft.com/office/drawing/2014/main" id="{1A91309D-13C2-4ABE-A680-EBF510E5C262}"/>
              </a:ext>
            </a:extLst>
          </p:cNvPr>
          <p:cNvSpPr>
            <a:spLocks xmlns:a="http://schemas.openxmlformats.org/drawingml/2006/main" noGrp="1"/>
          </p:cNvSpPr>
          <p:nvPr/>
        </p:nvSpPr>
        <p:spPr>
          <a:xfrm xmlns:a="http://schemas.openxmlformats.org/drawingml/2006/main">
            <a:off x="3843338" y="266700"/>
            <a:ext cx="751046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11111"/>
                </a:solidFill>
                <a:latin typeface="Arial"/>
                <a:ea typeface="Arial"/>
                <a:cs typeface="Arial"/>
              </a:defRPr>
            </a:pPr>
            <a:r>
              <a:rPr sz="2175" b="1">
                <a:solidFill>
                  <a:srgbClr val="111111"/>
                </a:solidFill>
                <a:latin typeface="Arial"/>
                <a:ea typeface="Arial"/>
                <a:cs typeface="Arial"/>
              </a:rPr>
              <a:t> | What changed in the request</a:t>
            </a:r>
          </a:p>
        </p:txBody>
      </p:sp>
      <p:sp>
        <p:nvSpPr>
          <p:cNvPr id="4" name="">
            <a:extLst xmlns:a="http://schemas.openxmlformats.org/drawingml/2006/main">
              <a:ext uri="{FF2B5EF4-FFF2-40B4-BE49-F238E27FC236}">
                <a16:creationId xmlns:a16="http://schemas.microsoft.com/office/drawing/2014/main" id="{21259C99-E6F0-44E9-9FF0-7EA4EE28F8EC}"/>
              </a:ext>
            </a:extLst>
          </p:cNvPr>
          <p:cNvSpPr>
            <a:spLocks xmlns:a="http://schemas.openxmlformats.org/drawingml/2006/main" noGrp="1"/>
          </p:cNvSpPr>
          <p:nvPr/>
        </p:nvSpPr>
        <p:spPr>
          <a:xfrm xmlns:a="http://schemas.openxmlformats.org/drawingml/2006/main">
            <a:off x="247650" y="649605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2026 SAP Fioneer. All rights reserved.  |  Public</a:t>
            </a:r>
          </a:p>
        </p:txBody>
      </p:sp>
      <p:sp>
        <p:nvSpPr>
          <p:cNvPr id="5" name="">
            <a:extLst xmlns:a="http://schemas.openxmlformats.org/drawingml/2006/main">
              <a:ext uri="{FF2B5EF4-FFF2-40B4-BE49-F238E27FC236}">
                <a16:creationId xmlns:a16="http://schemas.microsoft.com/office/drawing/2014/main" id="{4635F88B-8B64-48E8-9FE6-F84CB52B0B3F}"/>
              </a:ext>
            </a:extLst>
          </p:cNvPr>
          <p:cNvSpPr>
            <a:spLocks xmlns:a="http://schemas.openxmlformats.org/drawingml/2006/main" noGrp="1"/>
          </p:cNvSpPr>
          <p:nvPr/>
        </p:nvSpPr>
        <p:spPr>
          <a:xfrm xmlns:a="http://schemas.openxmlformats.org/drawingml/2006/main">
            <a:off x="10239375" y="6496050"/>
            <a:ext cx="209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2</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610b8e9629a400f">
            <a:extLst>
              <a:ext uri="{96DAC541-7B7A-43D3-8B79-37D633B846F1}">
                <asvg:svgBlip xmlns:asvg="http://schemas.microsoft.com/office/drawing/2016/SVG/main" r:embed="R5d7cfe9760474684"/>
              </a:ext>
            </a:extLst>
          </a:blip>
          <a:stretch xmlns:a="http://schemas.openxmlformats.org/drawingml/2006/main"/>
        </p:blipFill>
        <p:spPr>
          <a:xfrm xmlns:a="http://schemas.openxmlformats.org/drawingml/2006/main">
            <a:off x="10620375" y="6334125"/>
            <a:ext cx="1333500" cy="390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C7B7269-7896-4270-8AFC-63164CE470DC}"/>
              </a:ext>
            </a:extLst>
          </p:cNvPr>
          <p:cNvSpPr>
            <a:spLocks xmlns:a="http://schemas.openxmlformats.org/drawingml/2006/main" noGrp="1"/>
          </p:cNvSpPr>
          <p:nvPr/>
        </p:nvSpPr>
        <p:spPr>
          <a:xfrm xmlns:a="http://schemas.openxmlformats.org/drawingml/2006/main">
            <a:off x="714375" y="9715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163BFF"/>
                </a:solidFill>
                <a:latin typeface="Arial"/>
                <a:ea typeface="Arial"/>
                <a:cs typeface="Arial"/>
              </a:defRPr>
            </a:pPr>
            <a:r>
              <a:rPr sz="2175" b="1">
                <a:solidFill>
                  <a:srgbClr val="163BFF"/>
                </a:solidFill>
                <a:latin typeface="Arial"/>
                <a:ea typeface="Arial"/>
                <a:cs typeface="Arial"/>
              </a:rPr>
              <a:t>A fixed 128-row budget makes selection comparable</a:t>
            </a:r>
          </a:p>
        </p:txBody>
      </p:sp>
      <p:sp>
        <p:nvSpPr>
          <p:cNvPr id="8" name="">
            <a:extLst xmlns:a="http://schemas.openxmlformats.org/drawingml/2006/main">
              <a:ext uri="{FF2B5EF4-FFF2-40B4-BE49-F238E27FC236}">
                <a16:creationId xmlns:a16="http://schemas.microsoft.com/office/drawing/2014/main" id="{7611925F-B482-4041-8A4A-47A47D89D194}"/>
              </a:ext>
            </a:extLst>
          </p:cNvPr>
          <p:cNvSpPr>
            <a:spLocks xmlns:a="http://schemas.openxmlformats.org/drawingml/2006/main" noGrp="1"/>
          </p:cNvSpPr>
          <p:nvPr/>
        </p:nvSpPr>
        <p:spPr>
          <a:xfrm xmlns:a="http://schemas.openxmlformats.org/drawingml/2006/main">
            <a:off x="876300" y="169545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163BFF"/>
                </a:solidFill>
                <a:latin typeface="Arial"/>
                <a:ea typeface="Arial"/>
                <a:cs typeface="Arial"/>
              </a:defRPr>
            </a:pPr>
            <a:r>
              <a:rPr sz="1875" b="1">
                <a:solidFill>
                  <a:srgbClr val="163BFF"/>
                </a:solidFill>
                <a:latin typeface="Arial"/>
                <a:ea typeface="Arial"/>
                <a:cs typeface="Arial"/>
              </a:rPr>
              <a:t>Random control</a:t>
            </a:r>
          </a:p>
        </p:txBody>
      </p:sp>
      <p:sp>
        <p:nvSpPr>
          <p:cNvPr id="9" name="">
            <a:extLst xmlns:a="http://schemas.openxmlformats.org/drawingml/2006/main">
              <a:ext uri="{FF2B5EF4-FFF2-40B4-BE49-F238E27FC236}">
                <a16:creationId xmlns:a16="http://schemas.microsoft.com/office/drawing/2014/main" id="{C5BBDF5B-D163-43F9-913C-B057A25658F4}"/>
              </a:ext>
            </a:extLst>
          </p:cNvPr>
          <p:cNvSpPr>
            <a:spLocks xmlns:a="http://schemas.openxmlformats.org/drawingml/2006/main" noGrp="1"/>
          </p:cNvSpPr>
          <p:nvPr/>
        </p:nvSpPr>
        <p:spPr>
          <a:xfrm xmlns:a="http://schemas.openxmlformats.org/drawingml/2006/main">
            <a:off x="6648450" y="169545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163BFF"/>
                </a:solidFill>
                <a:latin typeface="Arial"/>
                <a:ea typeface="Arial"/>
                <a:cs typeface="Arial"/>
              </a:defRPr>
            </a:pPr>
            <a:r>
              <a:rPr sz="1875" b="1">
                <a:solidFill>
                  <a:srgbClr val="163BFF"/>
                </a:solidFill>
                <a:latin typeface="Arial"/>
                <a:ea typeface="Arial"/>
                <a:cs typeface="Arial"/>
              </a:rPr>
              <a:t>Balanced context</a:t>
            </a:r>
          </a:p>
        </p:txBody>
      </p:sp>
      <p:sp>
        <p:nvSpPr>
          <p:cNvPr id="10" name="">
            <a:extLst xmlns:a="http://schemas.openxmlformats.org/drawingml/2006/main">
              <a:ext uri="{FF2B5EF4-FFF2-40B4-BE49-F238E27FC236}">
                <a16:creationId xmlns:a16="http://schemas.microsoft.com/office/drawing/2014/main" id="{12FF9E72-F4E8-480D-BD8A-8B9A4C33E153}"/>
              </a:ext>
            </a:extLst>
          </p:cNvPr>
          <p:cNvSpPr>
            <a:spLocks xmlns:a="http://schemas.openxmlformats.org/drawingml/2006/main" noGrp="1"/>
          </p:cNvSpPr>
          <p:nvPr/>
        </p:nvSpPr>
        <p:spPr>
          <a:xfrm xmlns:a="http://schemas.openxmlformats.org/drawingml/2006/main">
            <a:off x="923925" y="2152650"/>
            <a:ext cx="4572000" cy="657225"/>
          </a:xfrm>
          <a:prstGeom xmlns:a="http://schemas.openxmlformats.org/drawingml/2006/main" prst="roundRect">
            <a:avLst>
              <a:gd name="adj" fmla="val 18841"/>
            </a:avLst>
          </a:prstGeom>
          <a:solidFill xmlns:a="http://schemas.openxmlformats.org/drawingml/2006/main">
            <a:srgbClr val="D9E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68E9E0-7E83-4374-BA24-2007636EB1F7}"/>
              </a:ext>
            </a:extLst>
          </p:cNvPr>
          <p:cNvSpPr>
            <a:spLocks xmlns:a="http://schemas.openxmlformats.org/drawingml/2006/main" noGrp="1"/>
          </p:cNvSpPr>
          <p:nvPr/>
        </p:nvSpPr>
        <p:spPr>
          <a:xfrm xmlns:a="http://schemas.openxmlformats.org/drawingml/2006/main">
            <a:off x="1019175" y="2209800"/>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27 fraud  +  101 nonfraud</a:t>
            </a:r>
          </a:p>
        </p:txBody>
      </p:sp>
      <p:sp>
        <p:nvSpPr>
          <p:cNvPr id="12" name="">
            <a:extLst xmlns:a="http://schemas.openxmlformats.org/drawingml/2006/main">
              <a:ext uri="{FF2B5EF4-FFF2-40B4-BE49-F238E27FC236}">
                <a16:creationId xmlns:a16="http://schemas.microsoft.com/office/drawing/2014/main" id="{A2C98E92-5840-4C33-8973-429E9BB99254}"/>
              </a:ext>
            </a:extLst>
          </p:cNvPr>
          <p:cNvSpPr>
            <a:spLocks xmlns:a="http://schemas.openxmlformats.org/drawingml/2006/main" noGrp="1"/>
          </p:cNvSpPr>
          <p:nvPr/>
        </p:nvSpPr>
        <p:spPr>
          <a:xfrm xmlns:a="http://schemas.openxmlformats.org/drawingml/2006/main">
            <a:off x="6696075" y="2152650"/>
            <a:ext cx="4572000" cy="657225"/>
          </a:xfrm>
          <a:prstGeom xmlns:a="http://schemas.openxmlformats.org/drawingml/2006/main" prst="roundRect">
            <a:avLst>
              <a:gd name="adj" fmla="val 18841"/>
            </a:avLst>
          </a:prstGeom>
          <a:solidFill xmlns:a="http://schemas.openxmlformats.org/drawingml/2006/main">
            <a:srgbClr val="FFD3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7E34F8-5B41-42D6-91B4-CBC2B14FFD36}"/>
              </a:ext>
            </a:extLst>
          </p:cNvPr>
          <p:cNvSpPr>
            <a:spLocks xmlns:a="http://schemas.openxmlformats.org/drawingml/2006/main" noGrp="1"/>
          </p:cNvSpPr>
          <p:nvPr/>
        </p:nvSpPr>
        <p:spPr>
          <a:xfrm xmlns:a="http://schemas.openxmlformats.org/drawingml/2006/main">
            <a:off x="6791325" y="2209800"/>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111111"/>
                </a:solidFill>
                <a:latin typeface="Arial"/>
                <a:ea typeface="Arial"/>
                <a:cs typeface="Arial"/>
              </a:defRPr>
            </a:pPr>
            <a:r>
              <a:rPr sz="1725" b="1">
                <a:solidFill>
                  <a:srgbClr val="111111"/>
                </a:solidFill>
                <a:latin typeface="Arial"/>
                <a:ea typeface="Arial"/>
                <a:cs typeface="Arial"/>
              </a:rPr>
              <a:t>64 fraud  +  64 nonfraud</a:t>
            </a:r>
          </a:p>
        </p:txBody>
      </p:sp>
      <p:sp>
        <p:nvSpPr>
          <p:cNvPr id="14" name="">
            <a:extLst xmlns:a="http://schemas.openxmlformats.org/drawingml/2006/main">
              <a:ext uri="{FF2B5EF4-FFF2-40B4-BE49-F238E27FC236}">
                <a16:creationId xmlns:a16="http://schemas.microsoft.com/office/drawing/2014/main" id="{703DB0E9-3085-4480-9FC8-B988C8871BEF}"/>
              </a:ext>
            </a:extLst>
          </p:cNvPr>
          <p:cNvSpPr>
            <a:spLocks xmlns:a="http://schemas.openxmlformats.org/drawingml/2006/main" noGrp="1"/>
          </p:cNvSpPr>
          <p:nvPr/>
        </p:nvSpPr>
        <p:spPr>
          <a:xfrm xmlns:a="http://schemas.openxmlformats.org/drawingml/2006/main">
            <a:off x="895350" y="2914650"/>
            <a:ext cx="461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a:solidFill>
                  <a:srgbClr val="444444"/>
                </a:solidFill>
                <a:latin typeface="Arial"/>
                <a:ea typeface="Arial"/>
                <a:cs typeface="Arial"/>
              </a:defRPr>
            </a:pPr>
            <a:r>
              <a:rPr sz="1200" b="0">
                <a:solidFill>
                  <a:srgbClr val="444444"/>
                </a:solidFill>
                <a:latin typeface="Arial"/>
                <a:ea typeface="Arial"/>
                <a:cs typeface="Arial"/>
              </a:rPr>
              <a:t>Selection seed 11</a:t>
            </a:r>
          </a:p>
        </p:txBody>
      </p:sp>
      <p:sp>
        <p:nvSpPr>
          <p:cNvPr id="15" name="">
            <a:extLst xmlns:a="http://schemas.openxmlformats.org/drawingml/2006/main">
              <a:ext uri="{FF2B5EF4-FFF2-40B4-BE49-F238E27FC236}">
                <a16:creationId xmlns:a16="http://schemas.microsoft.com/office/drawing/2014/main" id="{1E873BB6-B3DC-4C28-963D-A258052E7A7C}"/>
              </a:ext>
            </a:extLst>
          </p:cNvPr>
          <p:cNvSpPr>
            <a:spLocks xmlns:a="http://schemas.openxmlformats.org/drawingml/2006/main" noGrp="1"/>
          </p:cNvSpPr>
          <p:nvPr/>
        </p:nvSpPr>
        <p:spPr>
          <a:xfrm xmlns:a="http://schemas.openxmlformats.org/drawingml/2006/main">
            <a:off x="6686550" y="2914650"/>
            <a:ext cx="461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a:solidFill>
                  <a:srgbClr val="444444"/>
                </a:solidFill>
                <a:latin typeface="Arial"/>
                <a:ea typeface="Arial"/>
                <a:cs typeface="Arial"/>
              </a:defRPr>
            </a:pPr>
            <a:r>
              <a:rPr sz="1200" b="0">
                <a:solidFill>
                  <a:srgbClr val="444444"/>
                </a:solidFill>
                <a:latin typeface="Arial"/>
                <a:ea typeface="Arial"/>
                <a:cs typeface="Arial"/>
              </a:rPr>
              <a:t>Selection seed 11</a:t>
            </a:r>
          </a:p>
        </p:txBody>
      </p:sp>
      <p:sp>
        <p:nvSpPr>
          <p:cNvPr id="16" name="">
            <a:extLst xmlns:a="http://schemas.openxmlformats.org/drawingml/2006/main">
              <a:ext uri="{FF2B5EF4-FFF2-40B4-BE49-F238E27FC236}">
                <a16:creationId xmlns:a16="http://schemas.microsoft.com/office/drawing/2014/main" id="{EA858001-3971-4303-A744-0F35260B1FFE}"/>
              </a:ext>
            </a:extLst>
          </p:cNvPr>
          <p:cNvSpPr>
            <a:spLocks xmlns:a="http://schemas.openxmlformats.org/drawingml/2006/main" noGrp="1"/>
          </p:cNvSpPr>
          <p:nvPr/>
        </p:nvSpPr>
        <p:spPr>
          <a:xfrm xmlns:a="http://schemas.openxmlformats.org/drawingml/2006/main">
            <a:off x="6048375" y="1666875"/>
            <a:ext cx="0" cy="1638300"/>
          </a:xfrm>
          <a:prstGeom xmlns:a="http://schemas.openxmlformats.org/drawingml/2006/main" prst="line">
            <a:avLst/>
          </a:prstGeom>
          <a:noFill xmlns:a="http://schemas.openxmlformats.org/drawingml/2006/main"/>
          <a:ln xmlns:a="http://schemas.openxmlformats.org/drawingml/2006/main" w="9525">
            <a:solidFill>
              <a:srgbClr val="163BFF"/>
            </a:solidFill>
          </a:ln>
        </p:spPr>
      </p:sp>
      <p:sp>
        <p:nvSpPr>
          <p:cNvPr id="17" name="">
            <a:extLst xmlns:a="http://schemas.openxmlformats.org/drawingml/2006/main">
              <a:ext uri="{FF2B5EF4-FFF2-40B4-BE49-F238E27FC236}">
                <a16:creationId xmlns:a16="http://schemas.microsoft.com/office/drawing/2014/main" id="{BB2DD11E-9C78-4912-A1F0-ACED8C3955A7}"/>
              </a:ext>
            </a:extLst>
          </p:cNvPr>
          <p:cNvSpPr>
            <a:spLocks xmlns:a="http://schemas.openxmlformats.org/drawingml/2006/main" noGrp="1"/>
          </p:cNvSpPr>
          <p:nvPr/>
        </p:nvSpPr>
        <p:spPr>
          <a:xfrm xmlns:a="http://schemas.openxmlformats.org/drawingml/2006/main">
            <a:off x="714375" y="3543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63BFF"/>
                </a:solidFill>
                <a:latin typeface="Arial"/>
                <a:ea typeface="Arial"/>
                <a:cs typeface="Arial"/>
              </a:defRPr>
            </a:pPr>
            <a:r>
              <a:rPr sz="1800" b="1">
                <a:solidFill>
                  <a:srgbClr val="163BFF"/>
                </a:solidFill>
                <a:latin typeface="Arial"/>
                <a:ea typeface="Arial"/>
                <a:cs typeface="Arial"/>
              </a:rPr>
              <a:t>Request and evaluation checks</a:t>
            </a:r>
          </a:p>
        </p:txBody>
      </p:sp>
      <p:sp>
        <p:nvSpPr>
          <p:cNvPr id="18" name="">
            <a:extLst xmlns:a="http://schemas.openxmlformats.org/drawingml/2006/main">
              <a:ext uri="{FF2B5EF4-FFF2-40B4-BE49-F238E27FC236}">
                <a16:creationId xmlns:a16="http://schemas.microsoft.com/office/drawing/2014/main" id="{740D5D78-9368-463E-809A-5DED40D3CFEF}"/>
              </a:ext>
            </a:extLst>
          </p:cNvPr>
          <p:cNvSpPr>
            <a:spLocks xmlns:a="http://schemas.openxmlformats.org/drawingml/2006/main" noGrp="1"/>
          </p:cNvSpPr>
          <p:nvPr/>
        </p:nvSpPr>
        <p:spPr>
          <a:xfrm xmlns:a="http://schemas.openxmlformats.org/drawingml/2006/main">
            <a:off x="847725" y="4019550"/>
            <a:ext cx="257175" cy="257175"/>
          </a:xfrm>
          <a:prstGeom xmlns:a="http://schemas.openxmlformats.org/drawingml/2006/main" prst="ellipse">
            <a:avLst/>
          </a:prstGeom>
          <a:solidFill xmlns:a="http://schemas.openxmlformats.org/drawingml/2006/main">
            <a:srgbClr val="FFD33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432733-4648-47B2-87CD-04B205ABA533}"/>
              </a:ext>
            </a:extLst>
          </p:cNvPr>
          <p:cNvSpPr>
            <a:spLocks xmlns:a="http://schemas.openxmlformats.org/drawingml/2006/main" noGrp="1"/>
          </p:cNvSpPr>
          <p:nvPr/>
        </p:nvSpPr>
        <p:spPr>
          <a:xfrm xmlns:a="http://schemas.openxmlformats.org/drawingml/2006/main">
            <a:off x="847725" y="4019550"/>
            <a:ext cx="25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11111"/>
                </a:solidFill>
                <a:latin typeface="Arial"/>
                <a:ea typeface="Arial"/>
                <a:cs typeface="Arial"/>
              </a:defRPr>
            </a:pPr>
            <a:r>
              <a:rPr sz="1125" b="1">
                <a:solidFill>
                  <a:srgbClr val="111111"/>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539630BE-8DA6-4AF6-988B-2B932573346D}"/>
              </a:ext>
            </a:extLst>
          </p:cNvPr>
          <p:cNvSpPr>
            <a:spLocks xmlns:a="http://schemas.openxmlformats.org/drawingml/2006/main" noGrp="1"/>
          </p:cNvSpPr>
          <p:nvPr/>
        </p:nvSpPr>
        <p:spPr>
          <a:xfrm xmlns:a="http://schemas.openxmlformats.org/drawingml/2006/main">
            <a:off x="1238250" y="39814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Keep all 128 test invoices outside the labeled pool</a:t>
            </a:r>
          </a:p>
        </p:txBody>
      </p:sp>
      <p:sp>
        <p:nvSpPr>
          <p:cNvPr id="21" name="">
            <a:extLst xmlns:a="http://schemas.openxmlformats.org/drawingml/2006/main">
              <a:ext uri="{FF2B5EF4-FFF2-40B4-BE49-F238E27FC236}">
                <a16:creationId xmlns:a16="http://schemas.microsoft.com/office/drawing/2014/main" id="{B9883164-2132-44D3-885D-F448AF853D6B}"/>
              </a:ext>
            </a:extLst>
          </p:cNvPr>
          <p:cNvSpPr>
            <a:spLocks xmlns:a="http://schemas.openxmlformats.org/drawingml/2006/main" noGrp="1"/>
          </p:cNvSpPr>
          <p:nvPr/>
        </p:nvSpPr>
        <p:spPr>
          <a:xfrm xmlns:a="http://schemas.openxmlformats.org/drawingml/2006/main">
            <a:off x="847725" y="4391025"/>
            <a:ext cx="257175" cy="257175"/>
          </a:xfrm>
          <a:prstGeom xmlns:a="http://schemas.openxmlformats.org/drawingml/2006/main" prst="ellipse">
            <a:avLst/>
          </a:prstGeom>
          <a:solidFill xmlns:a="http://schemas.openxmlformats.org/drawingml/2006/main">
            <a:srgbClr val="FFD33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BC16B0E-38D8-4BFD-A36F-EAF69ADEBE0A}"/>
              </a:ext>
            </a:extLst>
          </p:cNvPr>
          <p:cNvSpPr>
            <a:spLocks xmlns:a="http://schemas.openxmlformats.org/drawingml/2006/main" noGrp="1"/>
          </p:cNvSpPr>
          <p:nvPr/>
        </p:nvSpPr>
        <p:spPr>
          <a:xfrm xmlns:a="http://schemas.openxmlformats.org/drawingml/2006/main">
            <a:off x="847725" y="4391025"/>
            <a:ext cx="25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11111"/>
                </a:solidFill>
                <a:latin typeface="Arial"/>
                <a:ea typeface="Arial"/>
                <a:cs typeface="Arial"/>
              </a:defRPr>
            </a:pPr>
            <a:r>
              <a:rPr sz="1125" b="1">
                <a:solidFill>
                  <a:srgbClr val="111111"/>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098997D2-FD51-44D1-A131-E96B61073200}"/>
              </a:ext>
            </a:extLst>
          </p:cNvPr>
          <p:cNvSpPr>
            <a:spLocks xmlns:a="http://schemas.openxmlformats.org/drawingml/2006/main" noGrp="1"/>
          </p:cNvSpPr>
          <p:nvPr/>
        </p:nvSpPr>
        <p:spPr>
          <a:xfrm xmlns:a="http://schemas.openxmlformats.org/drawingml/2006/main">
            <a:off x="1238250" y="43529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Confirm unique invoice IDs and selected class counts</a:t>
            </a:r>
          </a:p>
        </p:txBody>
      </p:sp>
      <p:sp>
        <p:nvSpPr>
          <p:cNvPr id="24" name="">
            <a:extLst xmlns:a="http://schemas.openxmlformats.org/drawingml/2006/main">
              <a:ext uri="{FF2B5EF4-FFF2-40B4-BE49-F238E27FC236}">
                <a16:creationId xmlns:a16="http://schemas.microsoft.com/office/drawing/2014/main" id="{AAAC11BA-B3B5-4E2E-8475-F008C592E660}"/>
              </a:ext>
            </a:extLst>
          </p:cNvPr>
          <p:cNvSpPr>
            <a:spLocks xmlns:a="http://schemas.openxmlformats.org/drawingml/2006/main" noGrp="1"/>
          </p:cNvSpPr>
          <p:nvPr/>
        </p:nvSpPr>
        <p:spPr>
          <a:xfrm xmlns:a="http://schemas.openxmlformats.org/drawingml/2006/main">
            <a:off x="847725" y="4762500"/>
            <a:ext cx="257175" cy="257175"/>
          </a:xfrm>
          <a:prstGeom xmlns:a="http://schemas.openxmlformats.org/drawingml/2006/main" prst="ellipse">
            <a:avLst/>
          </a:prstGeom>
          <a:solidFill xmlns:a="http://schemas.openxmlformats.org/drawingml/2006/main">
            <a:srgbClr val="FFD33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0693E57-FEEC-45C5-BB4E-8683EF8209E9}"/>
              </a:ext>
            </a:extLst>
          </p:cNvPr>
          <p:cNvSpPr>
            <a:spLocks xmlns:a="http://schemas.openxmlformats.org/drawingml/2006/main" noGrp="1"/>
          </p:cNvSpPr>
          <p:nvPr/>
        </p:nvSpPr>
        <p:spPr>
          <a:xfrm xmlns:a="http://schemas.openxmlformats.org/drawingml/2006/main">
            <a:off x="847725" y="4762500"/>
            <a:ext cx="25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11111"/>
                </a:solidFill>
                <a:latin typeface="Arial"/>
                <a:ea typeface="Arial"/>
                <a:cs typeface="Arial"/>
              </a:defRPr>
            </a:pPr>
            <a:r>
              <a:rPr sz="1125" b="1">
                <a:solidFill>
                  <a:srgbClr val="111111"/>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7F0D3DA2-E902-41FF-AFDC-73E1CC1BDB8B}"/>
              </a:ext>
            </a:extLst>
          </p:cNvPr>
          <p:cNvSpPr>
            <a:spLocks xmlns:a="http://schemas.openxmlformats.org/drawingml/2006/main" noGrp="1"/>
          </p:cNvSpPr>
          <p:nvPr/>
        </p:nvSpPr>
        <p:spPr>
          <a:xfrm xmlns:a="http://schemas.openxmlformats.org/drawingml/2006/main">
            <a:off x="1238250" y="47244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Mask the test target and exclude the other target column</a:t>
            </a:r>
          </a:p>
        </p:txBody>
      </p:sp>
      <p:sp>
        <p:nvSpPr>
          <p:cNvPr id="27" name="">
            <a:extLst xmlns:a="http://schemas.openxmlformats.org/drawingml/2006/main">
              <a:ext uri="{FF2B5EF4-FFF2-40B4-BE49-F238E27FC236}">
                <a16:creationId xmlns:a16="http://schemas.microsoft.com/office/drawing/2014/main" id="{5AB9C3F6-2A38-4893-B890-BBA71E9BD1E9}"/>
              </a:ext>
            </a:extLst>
          </p:cNvPr>
          <p:cNvSpPr>
            <a:spLocks xmlns:a="http://schemas.openxmlformats.org/drawingml/2006/main" noGrp="1"/>
          </p:cNvSpPr>
          <p:nvPr/>
        </p:nvSpPr>
        <p:spPr>
          <a:xfrm xmlns:a="http://schemas.openxmlformats.org/drawingml/2006/main">
            <a:off x="847725" y="5133975"/>
            <a:ext cx="257175" cy="257175"/>
          </a:xfrm>
          <a:prstGeom xmlns:a="http://schemas.openxmlformats.org/drawingml/2006/main" prst="ellipse">
            <a:avLst/>
          </a:prstGeom>
          <a:solidFill xmlns:a="http://schemas.openxmlformats.org/drawingml/2006/main">
            <a:srgbClr val="FFD33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7A89BC9-8C2C-4F99-AEFC-6D757EA3D270}"/>
              </a:ext>
            </a:extLst>
          </p:cNvPr>
          <p:cNvSpPr>
            <a:spLocks xmlns:a="http://schemas.openxmlformats.org/drawingml/2006/main" noGrp="1"/>
          </p:cNvSpPr>
          <p:nvPr/>
        </p:nvSpPr>
        <p:spPr>
          <a:xfrm xmlns:a="http://schemas.openxmlformats.org/drawingml/2006/main">
            <a:off x="847725" y="5133975"/>
            <a:ext cx="25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11111"/>
                </a:solidFill>
                <a:latin typeface="Arial"/>
                <a:ea typeface="Arial"/>
                <a:cs typeface="Arial"/>
              </a:defRPr>
            </a:pPr>
            <a:r>
              <a:rPr sz="1125" b="1">
                <a:solidFill>
                  <a:srgbClr val="111111"/>
                </a:solidFill>
                <a:latin typeface="Arial"/>
                <a:ea typeface="Arial"/>
                <a:cs typeface="Arial"/>
              </a:rPr>
              <a:t>4</a:t>
            </a:r>
          </a:p>
        </p:txBody>
      </p:sp>
      <p:sp>
        <p:nvSpPr>
          <p:cNvPr id="29" name="">
            <a:extLst xmlns:a="http://schemas.openxmlformats.org/drawingml/2006/main">
              <a:ext uri="{FF2B5EF4-FFF2-40B4-BE49-F238E27FC236}">
                <a16:creationId xmlns:a16="http://schemas.microsoft.com/office/drawing/2014/main" id="{CCEC5394-B436-4864-BB88-E373123B3C11}"/>
              </a:ext>
            </a:extLst>
          </p:cNvPr>
          <p:cNvSpPr>
            <a:spLocks xmlns:a="http://schemas.openxmlformats.org/drawingml/2006/main" noGrp="1"/>
          </p:cNvSpPr>
          <p:nvPr/>
        </p:nvSpPr>
        <p:spPr>
          <a:xfrm xmlns:a="http://schemas.openxmlformats.org/drawingml/2006/main">
            <a:off x="1238250" y="50958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Predict the same held-out invoice IDs in both conditions</a:t>
            </a:r>
          </a:p>
        </p:txBody>
      </p:sp>
      <p:sp>
        <p:nvSpPr>
          <p:cNvPr id="30" name="">
            <a:extLst xmlns:a="http://schemas.openxmlformats.org/drawingml/2006/main">
              <a:ext uri="{FF2B5EF4-FFF2-40B4-BE49-F238E27FC236}">
                <a16:creationId xmlns:a16="http://schemas.microsoft.com/office/drawing/2014/main" id="{A3E01C98-3CE7-4A5F-8796-2AC800BF5997}"/>
              </a:ext>
            </a:extLst>
          </p:cNvPr>
          <p:cNvSpPr>
            <a:spLocks xmlns:a="http://schemas.openxmlformats.org/drawingml/2006/main" noGrp="1"/>
          </p:cNvSpPr>
          <p:nvPr/>
        </p:nvSpPr>
        <p:spPr>
          <a:xfrm xmlns:a="http://schemas.openxmlformats.org/drawingml/2006/main">
            <a:off x="704850" y="5676900"/>
            <a:ext cx="10782300" cy="45720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4A5F070-09C2-432F-9A4C-2EF89C687411}"/>
              </a:ext>
            </a:extLst>
          </p:cNvPr>
          <p:cNvSpPr>
            <a:spLocks xmlns:a="http://schemas.openxmlformats.org/drawingml/2006/main" noGrp="1"/>
          </p:cNvSpPr>
          <p:nvPr/>
        </p:nvSpPr>
        <p:spPr>
          <a:xfrm xmlns:a="http://schemas.openxmlformats.org/drawingml/2006/main">
            <a:off x="85725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Only example selection changes in the matched 128-row comparison</a:t>
            </a:r>
          </a:p>
        </p:txBody>
      </p:sp>
    </p:spTree>
    <p:extLst>
      <p:ext uri="{BB962C8B-B14F-4D97-AF65-F5344CB8AC3E}">
        <p14:creationId xmlns:p14="http://schemas.microsoft.com/office/powerpoint/2010/main" val="21285495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466DA77-6198-4CCC-83D1-03DFF347FEFD}"/>
              </a:ext>
            </a:extLst>
          </p:cNvPr>
          <p:cNvSpPr>
            <a:spLocks xmlns:a="http://schemas.openxmlformats.org/drawingml/2006/main" noGrp="1"/>
          </p:cNvSpPr>
          <p:nvPr/>
        </p:nvSpPr>
        <p:spPr>
          <a:xfrm xmlns:a="http://schemas.openxmlformats.org/drawingml/2006/main">
            <a:off x="247650" y="342900"/>
            <a:ext cx="171450" cy="17145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006125-2BD3-4EFE-9F62-8FA3EE67C787}"/>
              </a:ext>
            </a:extLst>
          </p:cNvPr>
          <p:cNvSpPr>
            <a:spLocks xmlns:a="http://schemas.openxmlformats.org/drawingml/2006/main" noGrp="1"/>
          </p:cNvSpPr>
          <p:nvPr/>
        </p:nvSpPr>
        <p:spPr>
          <a:xfrm xmlns:a="http://schemas.openxmlformats.org/drawingml/2006/main">
            <a:off x="495300" y="266700"/>
            <a:ext cx="229076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63BFF"/>
                </a:solidFill>
                <a:latin typeface="Arial"/>
                <a:ea typeface="Arial"/>
                <a:cs typeface="Arial"/>
              </a:defRPr>
            </a:pPr>
            <a:r>
              <a:rPr sz="2175" b="1">
                <a:solidFill>
                  <a:srgbClr val="163BFF"/>
                </a:solidFill>
                <a:latin typeface="Arial"/>
                <a:ea typeface="Arial"/>
                <a:cs typeface="Arial"/>
              </a:rPr>
              <a:t>Fraud results</a:t>
            </a:r>
          </a:p>
        </p:txBody>
      </p:sp>
      <p:sp>
        <p:nvSpPr>
          <p:cNvPr id="3" name="">
            <a:extLst xmlns:a="http://schemas.openxmlformats.org/drawingml/2006/main">
              <a:ext uri="{FF2B5EF4-FFF2-40B4-BE49-F238E27FC236}">
                <a16:creationId xmlns:a16="http://schemas.microsoft.com/office/drawing/2014/main" id="{4B35A7C6-7BCD-4B99-BEBA-E4F304C5CE1A}"/>
              </a:ext>
            </a:extLst>
          </p:cNvPr>
          <p:cNvSpPr>
            <a:spLocks xmlns:a="http://schemas.openxmlformats.org/drawingml/2006/main" noGrp="1"/>
          </p:cNvSpPr>
          <p:nvPr/>
        </p:nvSpPr>
        <p:spPr>
          <a:xfrm xmlns:a="http://schemas.openxmlformats.org/drawingml/2006/main">
            <a:off x="2786063" y="266700"/>
            <a:ext cx="85677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11111"/>
                </a:solidFill>
                <a:latin typeface="Arial"/>
                <a:ea typeface="Arial"/>
                <a:cs typeface="Arial"/>
              </a:defRPr>
            </a:pPr>
            <a:r>
              <a:rPr sz="2175" b="1">
                <a:solidFill>
                  <a:srgbClr val="111111"/>
                </a:solidFill>
                <a:latin typeface="Arial"/>
                <a:ea typeface="Arial"/>
                <a:cs typeface="Arial"/>
              </a:rPr>
              <a:t> | Random versus balanced examples</a:t>
            </a:r>
          </a:p>
        </p:txBody>
      </p:sp>
      <p:sp>
        <p:nvSpPr>
          <p:cNvPr id="4" name="">
            <a:extLst xmlns:a="http://schemas.openxmlformats.org/drawingml/2006/main">
              <a:ext uri="{FF2B5EF4-FFF2-40B4-BE49-F238E27FC236}">
                <a16:creationId xmlns:a16="http://schemas.microsoft.com/office/drawing/2014/main" id="{2D0FE761-7C66-4B85-A013-2367A5367A75}"/>
              </a:ext>
            </a:extLst>
          </p:cNvPr>
          <p:cNvSpPr>
            <a:spLocks xmlns:a="http://schemas.openxmlformats.org/drawingml/2006/main" noGrp="1"/>
          </p:cNvSpPr>
          <p:nvPr/>
        </p:nvSpPr>
        <p:spPr>
          <a:xfrm xmlns:a="http://schemas.openxmlformats.org/drawingml/2006/main">
            <a:off x="247650" y="649605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2026 SAP Fioneer. All rights reserved.  |  Public</a:t>
            </a:r>
          </a:p>
        </p:txBody>
      </p:sp>
      <p:sp>
        <p:nvSpPr>
          <p:cNvPr id="5" name="">
            <a:extLst xmlns:a="http://schemas.openxmlformats.org/drawingml/2006/main">
              <a:ext uri="{FF2B5EF4-FFF2-40B4-BE49-F238E27FC236}">
                <a16:creationId xmlns:a16="http://schemas.microsoft.com/office/drawing/2014/main" id="{4C47C221-BDBB-4E64-A286-6BD48C52EF28}"/>
              </a:ext>
            </a:extLst>
          </p:cNvPr>
          <p:cNvSpPr>
            <a:spLocks xmlns:a="http://schemas.openxmlformats.org/drawingml/2006/main" noGrp="1"/>
          </p:cNvSpPr>
          <p:nvPr/>
        </p:nvSpPr>
        <p:spPr>
          <a:xfrm xmlns:a="http://schemas.openxmlformats.org/drawingml/2006/main">
            <a:off x="10239375" y="6496050"/>
            <a:ext cx="209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1b26c6f2ad9425e">
            <a:extLst>
              <a:ext uri="{96DAC541-7B7A-43D3-8B79-37D633B846F1}">
                <asvg:svgBlip xmlns:asvg="http://schemas.microsoft.com/office/drawing/2016/SVG/main" r:embed="R5becbad24db84248"/>
              </a:ext>
            </a:extLst>
          </a:blip>
          <a:stretch xmlns:a="http://schemas.openxmlformats.org/drawingml/2006/main"/>
        </p:blipFill>
        <p:spPr>
          <a:xfrm xmlns:a="http://schemas.openxmlformats.org/drawingml/2006/main">
            <a:off x="10620375" y="6334125"/>
            <a:ext cx="1333500" cy="390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BCBF58C-21EC-46B9-A975-61D34E3FFFD4}"/>
              </a:ext>
            </a:extLst>
          </p:cNvPr>
          <p:cNvSpPr>
            <a:spLocks xmlns:a="http://schemas.openxmlformats.org/drawingml/2006/main" noGrp="1"/>
          </p:cNvSpPr>
          <p:nvPr/>
        </p:nvSpPr>
        <p:spPr>
          <a:xfrm xmlns:a="http://schemas.openxmlformats.org/drawingml/2006/main">
            <a:off x="714375" y="10001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63BFF"/>
                </a:solidFill>
                <a:latin typeface="Arial"/>
                <a:ea typeface="Arial"/>
                <a:cs typeface="Arial"/>
              </a:defRPr>
            </a:pPr>
            <a:r>
              <a:rPr sz="2100" b="1">
                <a:solidFill>
                  <a:srgbClr val="163BFF"/>
                </a:solidFill>
                <a:latin typeface="Arial"/>
                <a:ea typeface="Arial"/>
                <a:cs typeface="Arial"/>
              </a:rPr>
              <a:t>Both models found six more fraud cases after balancing</a:t>
            </a:r>
          </a:p>
        </p:txBody>
      </p:sp>
      <p:graphicFrame>
        <p:nvGraphicFramePr>
          <p:cNvPr id="21" name=""/>
          <p:cNvGraphicFramePr/>
          <p:nvPr/>
        </p:nvGraphicFramePr>
        <p:xfrm>
          <a:off xmlns:a="http://schemas.openxmlformats.org/drawingml/2006/main" x="838200" y="1790700"/>
          <a:ext xmlns:a="http://schemas.openxmlformats.org/drawingml/2006/main" cx="10515600" cy="2762250"/>
        </p:xfrm>
        <a:graphic xmlns:a="http://schemas.openxmlformats.org/drawingml/2006/main">
          <a:graphicData uri="http://schemas.openxmlformats.org/drawingml/2006/table">
            <a:tbl>
              <a:tblPr/>
              <a:tblGrid>
                <a:gridCol w="1857375"/>
                <a:gridCol w="2571750"/>
                <a:gridCol w="1905000"/>
                <a:gridCol w="2143125"/>
                <a:gridCol w="2038350"/>
              </a:tblGrid>
              <a:tr h="552450">
                <a:tc>
                  <a:txBody>
                    <a:bodyPr lIns="85725" tIns="38100" rIns="66675" bIns="38100">
                      <a:normAutofit/>
                    </a:bodyPr>
                    <a:lstStyle/>
                    <a:p>
                      <a:pPr algn="l"/>
                      <a:r>
                        <a:rPr sz="1350" b="1">
                          <a:solidFill>
                            <a:srgbClr val="FFFFFF"/>
                          </a:solidFill>
                          <a:latin typeface="Arial"/>
                          <a:ea typeface="Arial"/>
                          <a:cs typeface="Arial"/>
                        </a:rPr>
                        <a:t>Model</a:t>
                      </a:r>
                    </a:p>
                  </a:txBody>
                  <a:tcPr marL="91440" marR="91440" marT="45720" marB="45720" anchor="ctr">
                    <a:solidFill>
                      <a:srgbClr val="163BFF"/>
                    </a:solidFill>
                  </a:tcPr>
                </a:tc>
                <a:tc>
                  <a:txBody>
                    <a:bodyPr lIns="85725" tIns="38100" rIns="66675" bIns="38100">
                      <a:normAutofit/>
                    </a:bodyPr>
                    <a:lstStyle/>
                    <a:p>
                      <a:pPr algn="l"/>
                      <a:r>
                        <a:rPr sz="1350" b="1">
                          <a:solidFill>
                            <a:srgbClr val="FFFFFF"/>
                          </a:solidFill>
                          <a:latin typeface="Arial"/>
                          <a:ea typeface="Arial"/>
                          <a:cs typeface="Arial"/>
                        </a:rPr>
                        <a:t>128-row selection</a:t>
                      </a:r>
                    </a:p>
                  </a:txBody>
                  <a:tcPr marL="91440" marR="91440" marT="45720" marB="45720" anchor="ctr">
                    <a:solidFill>
                      <a:srgbClr val="163BFF"/>
                    </a:solidFill>
                  </a:tcPr>
                </a:tc>
                <a:tc>
                  <a:txBody>
                    <a:bodyPr lIns="85725" tIns="38100" rIns="66675" bIns="38100">
                      <a:normAutofit/>
                    </a:bodyPr>
                    <a:lstStyle/>
                    <a:p>
                      <a:pPr algn="ctr"/>
                      <a:r>
                        <a:rPr sz="1350" b="1">
                          <a:solidFill>
                            <a:srgbClr val="FFFFFF"/>
                          </a:solidFill>
                          <a:latin typeface="Arial"/>
                          <a:ea typeface="Arial"/>
                          <a:cs typeface="Arial"/>
                        </a:rPr>
                        <a:t>Found / 22</a:t>
                      </a:r>
                    </a:p>
                  </a:txBody>
                  <a:tcPr marL="91440" marR="91440" marT="45720" marB="45720" anchor="ctr">
                    <a:solidFill>
                      <a:srgbClr val="163BFF"/>
                    </a:solidFill>
                  </a:tcPr>
                </a:tc>
                <a:tc>
                  <a:txBody>
                    <a:bodyPr lIns="85725" tIns="38100" rIns="66675" bIns="38100">
                      <a:normAutofit/>
                    </a:bodyPr>
                    <a:lstStyle/>
                    <a:p>
                      <a:pPr algn="ctr"/>
                      <a:r>
                        <a:rPr sz="1350" b="1">
                          <a:solidFill>
                            <a:srgbClr val="FFFFFF"/>
                          </a:solidFill>
                          <a:latin typeface="Arial"/>
                          <a:ea typeface="Arial"/>
                          <a:cs typeface="Arial"/>
                        </a:rPr>
                        <a:t>False alarms</a:t>
                      </a:r>
                    </a:p>
                  </a:txBody>
                  <a:tcPr marL="91440" marR="91440" marT="45720" marB="45720" anchor="ctr">
                    <a:solidFill>
                      <a:srgbClr val="163BFF"/>
                    </a:solidFill>
                  </a:tcPr>
                </a:tc>
                <a:tc>
                  <a:txBody>
                    <a:bodyPr lIns="85725" tIns="38100" rIns="66675" bIns="38100">
                      <a:normAutofit/>
                    </a:bodyPr>
                    <a:lstStyle/>
                    <a:p>
                      <a:pPr algn="ctr"/>
                      <a:r>
                        <a:rPr sz="1350" b="1">
                          <a:solidFill>
                            <a:srgbClr val="FFFFFF"/>
                          </a:solidFill>
                          <a:latin typeface="Arial"/>
                          <a:ea typeface="Arial"/>
                          <a:cs typeface="Arial"/>
                        </a:rPr>
                        <a:t>F1</a:t>
                      </a:r>
                    </a:p>
                  </a:txBody>
                  <a:tcPr marL="91440" marR="91440" marT="45720" marB="45720" anchor="ctr">
                    <a:solidFill>
                      <a:srgbClr val="163BFF"/>
                    </a:solidFill>
                  </a:tcPr>
                </a:tc>
              </a:tr>
              <a:tr h="552450">
                <a:tc>
                  <a:txBody>
                    <a:bodyPr lIns="85725" tIns="38100" rIns="66675" bIns="38100">
                      <a:normAutofit/>
                    </a:bodyPr>
                    <a:lstStyle/>
                    <a:p>
                      <a:pPr algn="l"/>
                      <a:r>
                        <a:rPr sz="1500" b="1">
                          <a:solidFill>
                            <a:srgbClr val="111111"/>
                          </a:solidFill>
                          <a:latin typeface="Arial"/>
                          <a:ea typeface="Arial"/>
                          <a:cs typeface="Arial"/>
                        </a:rPr>
                        <a:t>XGBoost</a:t>
                      </a:r>
                    </a:p>
                  </a:txBody>
                  <a:tcPr marL="91440" marR="91440" marT="45720" marB="45720" anchor="ctr">
                    <a:solidFill>
                      <a:srgbClr val="FFFFFF"/>
                    </a:solidFill>
                  </a:tcPr>
                </a:tc>
                <a:tc>
                  <a:txBody>
                    <a:bodyPr lIns="85725" tIns="38100" rIns="66675" bIns="38100">
                      <a:normAutofit/>
                    </a:bodyPr>
                    <a:lstStyle/>
                    <a:p>
                      <a:pPr algn="l"/>
                      <a:r>
                        <a:rPr sz="1500" b="0">
                          <a:solidFill>
                            <a:srgbClr val="111111"/>
                          </a:solidFill>
                          <a:latin typeface="Arial"/>
                          <a:ea typeface="Arial"/>
                          <a:cs typeface="Arial"/>
                        </a:rPr>
                        <a:t>Random</a:t>
                      </a:r>
                    </a:p>
                  </a:txBody>
                  <a:tcPr marL="91440" marR="91440" marT="45720" marB="45720" anchor="ctr">
                    <a:solidFill>
                      <a:srgbClr val="FFFFFF"/>
                    </a:solidFill>
                  </a:tcPr>
                </a:tc>
                <a:tc>
                  <a:txBody>
                    <a:bodyPr lIns="85725" tIns="38100" rIns="66675" bIns="38100">
                      <a:normAutofit/>
                    </a:bodyPr>
                    <a:lstStyle/>
                    <a:p>
                      <a:pPr algn="ctr"/>
                      <a:r>
                        <a:rPr sz="1500" b="0">
                          <a:solidFill>
                            <a:srgbClr val="111111"/>
                          </a:solidFill>
                          <a:latin typeface="Arial"/>
                          <a:ea typeface="Arial"/>
                          <a:cs typeface="Arial"/>
                        </a:rPr>
                        <a:t>10</a:t>
                      </a:r>
                    </a:p>
                  </a:txBody>
                  <a:tcPr marL="91440" marR="91440" marT="45720" marB="45720" anchor="ctr">
                    <a:solidFill>
                      <a:srgbClr val="FFFFFF"/>
                    </a:solidFill>
                  </a:tcPr>
                </a:tc>
                <a:tc>
                  <a:txBody>
                    <a:bodyPr lIns="85725" tIns="38100" rIns="66675" bIns="38100">
                      <a:normAutofit/>
                    </a:bodyPr>
                    <a:lstStyle/>
                    <a:p>
                      <a:pPr algn="ctr"/>
                      <a:r>
                        <a:rPr sz="1500" b="0">
                          <a:solidFill>
                            <a:srgbClr val="111111"/>
                          </a:solidFill>
                          <a:latin typeface="Arial"/>
                          <a:ea typeface="Arial"/>
                          <a:cs typeface="Arial"/>
                        </a:rPr>
                        <a:t>20</a:t>
                      </a:r>
                    </a:p>
                  </a:txBody>
                  <a:tcPr marL="91440" marR="91440" marT="45720" marB="45720" anchor="ctr">
                    <a:solidFill>
                      <a:srgbClr val="FFFFFF"/>
                    </a:solidFill>
                  </a:tcPr>
                </a:tc>
                <a:tc>
                  <a:txBody>
                    <a:bodyPr lIns="85725" tIns="38100" rIns="66675" bIns="38100">
                      <a:normAutofit/>
                    </a:bodyPr>
                    <a:lstStyle/>
                    <a:p>
                      <a:pPr algn="ctr"/>
                      <a:r>
                        <a:rPr sz="1500" b="0">
                          <a:solidFill>
                            <a:srgbClr val="111111"/>
                          </a:solidFill>
                          <a:latin typeface="Arial"/>
                          <a:ea typeface="Arial"/>
                          <a:cs typeface="Arial"/>
                        </a:rPr>
                        <a:t>0.385</a:t>
                      </a:r>
                    </a:p>
                  </a:txBody>
                  <a:tcPr marL="91440" marR="91440" marT="45720" marB="45720" anchor="ctr">
                    <a:solidFill>
                      <a:srgbClr val="FFFFFF"/>
                    </a:solidFill>
                  </a:tcPr>
                </a:tc>
              </a:tr>
              <a:tr h="552450">
                <a:tc>
                  <a:txBody>
                    <a:bodyPr lIns="85725" tIns="38100" rIns="66675" bIns="38100">
                      <a:normAutofit/>
                    </a:bodyPr>
                    <a:lstStyle/>
                    <a:p>
                      <a:pPr algn="l"/>
                      <a:r>
                        <a:rPr sz="1500" b="1">
                          <a:solidFill>
                            <a:srgbClr val="111111"/>
                          </a:solidFill>
                          <a:latin typeface="Arial"/>
                          <a:ea typeface="Arial"/>
                          <a:cs typeface="Arial"/>
                        </a:rPr>
                        <a:t>XGBoost</a:t>
                      </a:r>
                    </a:p>
                  </a:txBody>
                  <a:tcPr marL="91440" marR="91440" marT="45720" marB="45720" anchor="ctr">
                    <a:solidFill>
                      <a:srgbClr val="E8EEFF"/>
                    </a:solidFill>
                  </a:tcPr>
                </a:tc>
                <a:tc>
                  <a:txBody>
                    <a:bodyPr lIns="85725" tIns="38100" rIns="66675" bIns="38100">
                      <a:normAutofit/>
                    </a:bodyPr>
                    <a:lstStyle/>
                    <a:p>
                      <a:pPr algn="l"/>
                      <a:r>
                        <a:rPr sz="1500" b="0">
                          <a:solidFill>
                            <a:srgbClr val="111111"/>
                          </a:solidFill>
                          <a:latin typeface="Arial"/>
                          <a:ea typeface="Arial"/>
                          <a:cs typeface="Arial"/>
                        </a:rPr>
                        <a:t>Balanced</a:t>
                      </a:r>
                    </a:p>
                  </a:txBody>
                  <a:tcPr marL="91440" marR="91440" marT="45720" marB="45720" anchor="ctr">
                    <a:solidFill>
                      <a:srgbClr val="E8EEFF"/>
                    </a:solidFill>
                  </a:tcPr>
                </a:tc>
                <a:tc>
                  <a:txBody>
                    <a:bodyPr lIns="85725" tIns="38100" rIns="66675" bIns="38100">
                      <a:normAutofit/>
                    </a:bodyPr>
                    <a:lstStyle/>
                    <a:p>
                      <a:pPr algn="ctr"/>
                      <a:r>
                        <a:rPr sz="1500" b="0">
                          <a:solidFill>
                            <a:srgbClr val="111111"/>
                          </a:solidFill>
                          <a:latin typeface="Arial"/>
                          <a:ea typeface="Arial"/>
                          <a:cs typeface="Arial"/>
                        </a:rPr>
                        <a:t>16</a:t>
                      </a:r>
                    </a:p>
                  </a:txBody>
                  <a:tcPr marL="91440" marR="91440" marT="45720" marB="45720" anchor="ctr">
                    <a:solidFill>
                      <a:srgbClr val="E8EEFF"/>
                    </a:solidFill>
                  </a:tcPr>
                </a:tc>
                <a:tc>
                  <a:txBody>
                    <a:bodyPr lIns="85725" tIns="38100" rIns="66675" bIns="38100">
                      <a:normAutofit/>
                    </a:bodyPr>
                    <a:lstStyle/>
                    <a:p>
                      <a:pPr algn="ctr"/>
                      <a:r>
                        <a:rPr sz="1500" b="0">
                          <a:solidFill>
                            <a:srgbClr val="111111"/>
                          </a:solidFill>
                          <a:latin typeface="Arial"/>
                          <a:ea typeface="Arial"/>
                          <a:cs typeface="Arial"/>
                        </a:rPr>
                        <a:t>32</a:t>
                      </a:r>
                    </a:p>
                  </a:txBody>
                  <a:tcPr marL="91440" marR="91440" marT="45720" marB="45720" anchor="ctr">
                    <a:solidFill>
                      <a:srgbClr val="E8EEFF"/>
                    </a:solidFill>
                  </a:tcPr>
                </a:tc>
                <a:tc>
                  <a:txBody>
                    <a:bodyPr lIns="85725" tIns="38100" rIns="66675" bIns="38100">
                      <a:normAutofit/>
                    </a:bodyPr>
                    <a:lstStyle/>
                    <a:p>
                      <a:pPr algn="ctr"/>
                      <a:r>
                        <a:rPr sz="1500" b="0">
                          <a:solidFill>
                            <a:srgbClr val="111111"/>
                          </a:solidFill>
                          <a:latin typeface="Arial"/>
                          <a:ea typeface="Arial"/>
                          <a:cs typeface="Arial"/>
                        </a:rPr>
                        <a:t>0.457</a:t>
                      </a:r>
                    </a:p>
                  </a:txBody>
                  <a:tcPr marL="91440" marR="91440" marT="45720" marB="45720" anchor="ctr">
                    <a:solidFill>
                      <a:srgbClr val="E8EEFF"/>
                    </a:solidFill>
                  </a:tcPr>
                </a:tc>
              </a:tr>
              <a:tr h="552450">
                <a:tc>
                  <a:txBody>
                    <a:bodyPr lIns="85725" tIns="38100" rIns="66675" bIns="38100">
                      <a:normAutofit/>
                    </a:bodyPr>
                    <a:lstStyle/>
                    <a:p>
                      <a:pPr algn="l"/>
                      <a:r>
                        <a:rPr sz="1500" b="1">
                          <a:solidFill>
                            <a:srgbClr val="111111"/>
                          </a:solidFill>
                          <a:latin typeface="Arial"/>
                          <a:ea typeface="Arial"/>
                          <a:cs typeface="Arial"/>
                        </a:rPr>
                        <a:t>SAP RPT</a:t>
                      </a:r>
                    </a:p>
                  </a:txBody>
                  <a:tcPr marL="91440" marR="91440" marT="45720" marB="45720" anchor="ctr">
                    <a:solidFill>
                      <a:srgbClr val="FFFFFF"/>
                    </a:solidFill>
                  </a:tcPr>
                </a:tc>
                <a:tc>
                  <a:txBody>
                    <a:bodyPr lIns="85725" tIns="38100" rIns="66675" bIns="38100">
                      <a:normAutofit/>
                    </a:bodyPr>
                    <a:lstStyle/>
                    <a:p>
                      <a:pPr algn="l"/>
                      <a:r>
                        <a:rPr sz="1500" b="0">
                          <a:solidFill>
                            <a:srgbClr val="111111"/>
                          </a:solidFill>
                          <a:latin typeface="Arial"/>
                          <a:ea typeface="Arial"/>
                          <a:cs typeface="Arial"/>
                        </a:rPr>
                        <a:t>Random</a:t>
                      </a:r>
                    </a:p>
                  </a:txBody>
                  <a:tcPr marL="91440" marR="91440" marT="45720" marB="45720" anchor="ctr">
                    <a:solidFill>
                      <a:srgbClr val="FFFFFF"/>
                    </a:solidFill>
                  </a:tcPr>
                </a:tc>
                <a:tc>
                  <a:txBody>
                    <a:bodyPr lIns="85725" tIns="38100" rIns="66675" bIns="38100">
                      <a:normAutofit/>
                    </a:bodyPr>
                    <a:lstStyle/>
                    <a:p>
                      <a:pPr algn="ctr"/>
                      <a:r>
                        <a:rPr sz="1500" b="0">
                          <a:solidFill>
                            <a:srgbClr val="111111"/>
                          </a:solidFill>
                          <a:latin typeface="Arial"/>
                          <a:ea typeface="Arial"/>
                          <a:cs typeface="Arial"/>
                        </a:rPr>
                        <a:t>10</a:t>
                      </a:r>
                    </a:p>
                  </a:txBody>
                  <a:tcPr marL="91440" marR="91440" marT="45720" marB="45720" anchor="ctr">
                    <a:solidFill>
                      <a:srgbClr val="FFFFFF"/>
                    </a:solidFill>
                  </a:tcPr>
                </a:tc>
                <a:tc>
                  <a:txBody>
                    <a:bodyPr lIns="85725" tIns="38100" rIns="66675" bIns="38100">
                      <a:normAutofit/>
                    </a:bodyPr>
                    <a:lstStyle/>
                    <a:p>
                      <a:pPr algn="ctr"/>
                      <a:r>
                        <a:rPr sz="1500" b="0">
                          <a:solidFill>
                            <a:srgbClr val="111111"/>
                          </a:solidFill>
                          <a:latin typeface="Arial"/>
                          <a:ea typeface="Arial"/>
                          <a:cs typeface="Arial"/>
                        </a:rPr>
                        <a:t>3</a:t>
                      </a:r>
                    </a:p>
                  </a:txBody>
                  <a:tcPr marL="91440" marR="91440" marT="45720" marB="45720" anchor="ctr">
                    <a:solidFill>
                      <a:srgbClr val="FFFFFF"/>
                    </a:solidFill>
                  </a:tcPr>
                </a:tc>
                <a:tc>
                  <a:txBody>
                    <a:bodyPr lIns="85725" tIns="38100" rIns="66675" bIns="38100">
                      <a:normAutofit/>
                    </a:bodyPr>
                    <a:lstStyle/>
                    <a:p>
                      <a:pPr algn="ctr"/>
                      <a:r>
                        <a:rPr sz="1500" b="0">
                          <a:solidFill>
                            <a:srgbClr val="111111"/>
                          </a:solidFill>
                          <a:latin typeface="Arial"/>
                          <a:ea typeface="Arial"/>
                          <a:cs typeface="Arial"/>
                        </a:rPr>
                        <a:t>0.571</a:t>
                      </a:r>
                    </a:p>
                  </a:txBody>
                  <a:tcPr marL="91440" marR="91440" marT="45720" marB="45720" anchor="ctr">
                    <a:solidFill>
                      <a:srgbClr val="FFFFFF"/>
                    </a:solidFill>
                  </a:tcPr>
                </a:tc>
              </a:tr>
              <a:tr h="552450">
                <a:tc>
                  <a:txBody>
                    <a:bodyPr lIns="85725" tIns="38100" rIns="66675" bIns="38100">
                      <a:normAutofit/>
                    </a:bodyPr>
                    <a:lstStyle/>
                    <a:p>
                      <a:pPr algn="l"/>
                      <a:r>
                        <a:rPr sz="1500" b="1">
                          <a:solidFill>
                            <a:srgbClr val="111111"/>
                          </a:solidFill>
                          <a:latin typeface="Arial"/>
                          <a:ea typeface="Arial"/>
                          <a:cs typeface="Arial"/>
                        </a:rPr>
                        <a:t>SAP RPT</a:t>
                      </a:r>
                    </a:p>
                  </a:txBody>
                  <a:tcPr marL="91440" marR="91440" marT="45720" marB="45720" anchor="ctr">
                    <a:solidFill>
                      <a:srgbClr val="E8EEFF"/>
                    </a:solidFill>
                  </a:tcPr>
                </a:tc>
                <a:tc>
                  <a:txBody>
                    <a:bodyPr lIns="85725" tIns="38100" rIns="66675" bIns="38100">
                      <a:normAutofit/>
                    </a:bodyPr>
                    <a:lstStyle/>
                    <a:p>
                      <a:pPr algn="l"/>
                      <a:r>
                        <a:rPr sz="1500" b="0">
                          <a:solidFill>
                            <a:srgbClr val="111111"/>
                          </a:solidFill>
                          <a:latin typeface="Arial"/>
                          <a:ea typeface="Arial"/>
                          <a:cs typeface="Arial"/>
                        </a:rPr>
                        <a:t>Balanced</a:t>
                      </a:r>
                    </a:p>
                  </a:txBody>
                  <a:tcPr marL="91440" marR="91440" marT="45720" marB="45720" anchor="ctr">
                    <a:solidFill>
                      <a:srgbClr val="E8EEFF"/>
                    </a:solidFill>
                  </a:tcPr>
                </a:tc>
                <a:tc>
                  <a:txBody>
                    <a:bodyPr lIns="85725" tIns="38100" rIns="66675" bIns="38100">
                      <a:normAutofit/>
                    </a:bodyPr>
                    <a:lstStyle/>
                    <a:p>
                      <a:pPr algn="ctr"/>
                      <a:r>
                        <a:rPr sz="1500" b="0">
                          <a:solidFill>
                            <a:srgbClr val="111111"/>
                          </a:solidFill>
                          <a:latin typeface="Arial"/>
                          <a:ea typeface="Arial"/>
                          <a:cs typeface="Arial"/>
                        </a:rPr>
                        <a:t>16</a:t>
                      </a:r>
                    </a:p>
                  </a:txBody>
                  <a:tcPr marL="91440" marR="91440" marT="45720" marB="45720" anchor="ctr">
                    <a:solidFill>
                      <a:srgbClr val="E8EEFF"/>
                    </a:solidFill>
                  </a:tcPr>
                </a:tc>
                <a:tc>
                  <a:txBody>
                    <a:bodyPr lIns="85725" tIns="38100" rIns="66675" bIns="38100">
                      <a:normAutofit/>
                    </a:bodyPr>
                    <a:lstStyle/>
                    <a:p>
                      <a:pPr algn="ctr"/>
                      <a:r>
                        <a:rPr sz="1500" b="0">
                          <a:solidFill>
                            <a:srgbClr val="111111"/>
                          </a:solidFill>
                          <a:latin typeface="Arial"/>
                          <a:ea typeface="Arial"/>
                          <a:cs typeface="Arial"/>
                        </a:rPr>
                        <a:t>12</a:t>
                      </a:r>
                    </a:p>
                  </a:txBody>
                  <a:tcPr marL="91440" marR="91440" marT="45720" marB="45720" anchor="ctr">
                    <a:solidFill>
                      <a:srgbClr val="E8EEFF"/>
                    </a:solidFill>
                  </a:tcPr>
                </a:tc>
                <a:tc>
                  <a:txBody>
                    <a:bodyPr lIns="85725" tIns="38100" rIns="66675" bIns="38100">
                      <a:normAutofit/>
                    </a:bodyPr>
                    <a:lstStyle/>
                    <a:p>
                      <a:pPr algn="ctr"/>
                      <a:r>
                        <a:rPr sz="1500" b="0">
                          <a:solidFill>
                            <a:srgbClr val="111111"/>
                          </a:solidFill>
                          <a:latin typeface="Arial"/>
                          <a:ea typeface="Arial"/>
                          <a:cs typeface="Arial"/>
                        </a:rPr>
                        <a:t>0.640</a:t>
                      </a:r>
                    </a:p>
                  </a:txBody>
                  <a:tcPr marL="91440" marR="91440" marT="45720" marB="45720" anchor="ctr">
                    <a:solidFill>
                      <a:srgbClr val="E8EEFF"/>
                    </a:solidFill>
                  </a:tcPr>
                </a:tc>
              </a:tr>
            </a:tbl>
          </a:graphicData>
        </a:graphic>
      </p:graphicFrame>
      <p:sp>
        <p:nvSpPr>
          <p:cNvPr id="9" name="">
            <a:extLst xmlns:a="http://schemas.openxmlformats.org/drawingml/2006/main">
              <a:ext uri="{FF2B5EF4-FFF2-40B4-BE49-F238E27FC236}">
                <a16:creationId xmlns:a16="http://schemas.microsoft.com/office/drawing/2014/main" id="{ECF798FA-8F89-49F6-898D-84298FD51D55}"/>
              </a:ext>
            </a:extLst>
          </p:cNvPr>
          <p:cNvSpPr>
            <a:spLocks xmlns:a="http://schemas.openxmlformats.org/drawingml/2006/main" noGrp="1"/>
          </p:cNvSpPr>
          <p:nvPr/>
        </p:nvSpPr>
        <p:spPr>
          <a:xfrm xmlns:a="http://schemas.openxmlformats.org/drawingml/2006/main">
            <a:off x="838200" y="47815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Earlier 1,024-row benchmark: XGBoost F1 0.652; SAP RPT F1 0.541.</a:t>
            </a:r>
          </a:p>
        </p:txBody>
      </p:sp>
      <p:sp>
        <p:nvSpPr>
          <p:cNvPr id="10" name="">
            <a:extLst xmlns:a="http://schemas.openxmlformats.org/drawingml/2006/main">
              <a:ext uri="{FF2B5EF4-FFF2-40B4-BE49-F238E27FC236}">
                <a16:creationId xmlns:a16="http://schemas.microsoft.com/office/drawing/2014/main" id="{97F7271F-1989-4372-B326-06C4192A0764}"/>
              </a:ext>
            </a:extLst>
          </p:cNvPr>
          <p:cNvSpPr>
            <a:spLocks xmlns:a="http://schemas.openxmlformats.org/drawingml/2006/main" noGrp="1"/>
          </p:cNvSpPr>
          <p:nvPr/>
        </p:nvSpPr>
        <p:spPr>
          <a:xfrm xmlns:a="http://schemas.openxmlformats.org/drawingml/2006/main">
            <a:off x="838200" y="5191125"/>
            <a:ext cx="10515600" cy="428625"/>
          </a:xfrm>
          <a:prstGeom xmlns:a="http://schemas.openxmlformats.org/drawingml/2006/main" prst="roundRect">
            <a:avLst>
              <a:gd name="adj" fmla="val 22222"/>
            </a:avLst>
          </a:prstGeom>
          <a:solidFill xmlns:a="http://schemas.openxmlformats.org/drawingml/2006/main">
            <a:srgbClr val="FFD3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6874DCB-8244-44B3-904C-FAA516F7ED45}"/>
              </a:ext>
            </a:extLst>
          </p:cNvPr>
          <p:cNvSpPr>
            <a:spLocks xmlns:a="http://schemas.openxmlformats.org/drawingml/2006/main" noGrp="1"/>
          </p:cNvSpPr>
          <p:nvPr/>
        </p:nvSpPr>
        <p:spPr>
          <a:xfrm xmlns:a="http://schemas.openxmlformats.org/drawingml/2006/main">
            <a:off x="990600" y="5229225"/>
            <a:ext cx="1021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11111"/>
                </a:solidFill>
                <a:latin typeface="Arial"/>
                <a:ea typeface="Arial"/>
                <a:cs typeface="Arial"/>
              </a:defRPr>
            </a:pPr>
            <a:r>
              <a:rPr sz="1350" b="1">
                <a:solidFill>
                  <a:srgbClr val="111111"/>
                </a:solidFill>
                <a:latin typeface="Arial"/>
                <a:ea typeface="Arial"/>
                <a:cs typeface="Arial"/>
              </a:rPr>
              <a:t>That earlier benchmark used a different example budget. The matched 128-row pair measures selection.</a:t>
            </a:r>
          </a:p>
        </p:txBody>
      </p:sp>
      <p:sp>
        <p:nvSpPr>
          <p:cNvPr id="12" name="">
            <a:extLst xmlns:a="http://schemas.openxmlformats.org/drawingml/2006/main">
              <a:ext uri="{FF2B5EF4-FFF2-40B4-BE49-F238E27FC236}">
                <a16:creationId xmlns:a16="http://schemas.microsoft.com/office/drawing/2014/main" id="{DF2EA3DC-4393-41C1-A753-79784EBD87AA}"/>
              </a:ext>
            </a:extLst>
          </p:cNvPr>
          <p:cNvSpPr>
            <a:spLocks xmlns:a="http://schemas.openxmlformats.org/drawingml/2006/main" noGrp="1"/>
          </p:cNvSpPr>
          <p:nvPr/>
        </p:nvSpPr>
        <p:spPr>
          <a:xfrm xmlns:a="http://schemas.openxmlformats.org/drawingml/2006/main">
            <a:off x="704850" y="5772150"/>
            <a:ext cx="10782300" cy="45720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8BCBDEA-DAB7-498D-A0C1-536A133AA5FD}"/>
              </a:ext>
            </a:extLst>
          </p:cNvPr>
          <p:cNvSpPr>
            <a:spLocks xmlns:a="http://schemas.openxmlformats.org/drawingml/2006/main" noGrp="1"/>
          </p:cNvSpPr>
          <p:nvPr/>
        </p:nvSpPr>
        <p:spPr>
          <a:xfrm xmlns:a="http://schemas.openxmlformats.org/drawingml/2006/main">
            <a:off x="857250" y="5810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More detections came with more false alarms</a:t>
            </a:r>
          </a:p>
        </p:txBody>
      </p:sp>
    </p:spTree>
    <p:extLst>
      <p:ext uri="{BB962C8B-B14F-4D97-AF65-F5344CB8AC3E}">
        <p14:creationId xmlns:p14="http://schemas.microsoft.com/office/powerpoint/2010/main" val="15631720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7B3C2B2-9ED3-40D5-B4B6-9BF1F5C4B45B}"/>
              </a:ext>
            </a:extLst>
          </p:cNvPr>
          <p:cNvSpPr>
            <a:spLocks xmlns:a="http://schemas.openxmlformats.org/drawingml/2006/main" noGrp="1"/>
          </p:cNvSpPr>
          <p:nvPr/>
        </p:nvSpPr>
        <p:spPr>
          <a:xfrm xmlns:a="http://schemas.openxmlformats.org/drawingml/2006/main">
            <a:off x="247650" y="342900"/>
            <a:ext cx="171450" cy="171450"/>
          </a:xfrm>
          <a:prstGeom xmlns:a="http://schemas.openxmlformats.org/drawingml/2006/main" prst="rect">
            <a:avLst/>
          </a:prstGeom>
          <a:solidFill xmlns:a="http://schemas.openxmlformats.org/drawingml/2006/main">
            <a:srgbClr val="163B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F5B14-AF82-4EC1-A94F-DE07A551A8A3}"/>
              </a:ext>
            </a:extLst>
          </p:cNvPr>
          <p:cNvSpPr>
            <a:spLocks xmlns:a="http://schemas.openxmlformats.org/drawingml/2006/main" noGrp="1"/>
          </p:cNvSpPr>
          <p:nvPr/>
        </p:nvSpPr>
        <p:spPr>
          <a:xfrm xmlns:a="http://schemas.openxmlformats.org/drawingml/2006/main">
            <a:off x="495300" y="266700"/>
            <a:ext cx="264318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63BFF"/>
                </a:solidFill>
                <a:latin typeface="Arial"/>
                <a:ea typeface="Arial"/>
                <a:cs typeface="Arial"/>
              </a:defRPr>
            </a:pPr>
            <a:r>
              <a:rPr sz="2175" b="1">
                <a:solidFill>
                  <a:srgbClr val="163BFF"/>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47E993C3-447A-4B87-828F-E51CE0C558E4}"/>
              </a:ext>
            </a:extLst>
          </p:cNvPr>
          <p:cNvSpPr>
            <a:spLocks xmlns:a="http://schemas.openxmlformats.org/drawingml/2006/main" noGrp="1"/>
          </p:cNvSpPr>
          <p:nvPr/>
        </p:nvSpPr>
        <p:spPr>
          <a:xfrm xmlns:a="http://schemas.openxmlformats.org/drawingml/2006/main">
            <a:off x="3138488" y="266700"/>
            <a:ext cx="82153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111111"/>
                </a:solidFill>
                <a:latin typeface="Arial"/>
                <a:ea typeface="Arial"/>
                <a:cs typeface="Arial"/>
              </a:defRPr>
            </a:pPr>
            <a:r>
              <a:rPr sz="2175" b="1">
                <a:solidFill>
                  <a:srgbClr val="111111"/>
                </a:solidFill>
                <a:latin typeface="Arial"/>
                <a:ea typeface="Arial"/>
                <a:cs typeface="Arial"/>
              </a:rPr>
              <a:t> | Better fraud recall, more alerts</a:t>
            </a:r>
          </a:p>
        </p:txBody>
      </p:sp>
      <p:sp>
        <p:nvSpPr>
          <p:cNvPr id="4" name="">
            <a:extLst xmlns:a="http://schemas.openxmlformats.org/drawingml/2006/main">
              <a:ext uri="{FF2B5EF4-FFF2-40B4-BE49-F238E27FC236}">
                <a16:creationId xmlns:a16="http://schemas.microsoft.com/office/drawing/2014/main" id="{5168FAB2-0A5D-4E60-9F97-F9B1C83D953D}"/>
              </a:ext>
            </a:extLst>
          </p:cNvPr>
          <p:cNvSpPr>
            <a:spLocks xmlns:a="http://schemas.openxmlformats.org/drawingml/2006/main" noGrp="1"/>
          </p:cNvSpPr>
          <p:nvPr/>
        </p:nvSpPr>
        <p:spPr>
          <a:xfrm xmlns:a="http://schemas.openxmlformats.org/drawingml/2006/main">
            <a:off x="247650" y="649605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2026 SAP Fioneer. All rights reserved.  |  Public</a:t>
            </a:r>
          </a:p>
        </p:txBody>
      </p:sp>
      <p:sp>
        <p:nvSpPr>
          <p:cNvPr id="5" name="">
            <a:extLst xmlns:a="http://schemas.openxmlformats.org/drawingml/2006/main">
              <a:ext uri="{FF2B5EF4-FFF2-40B4-BE49-F238E27FC236}">
                <a16:creationId xmlns:a16="http://schemas.microsoft.com/office/drawing/2014/main" id="{CEC2112E-658F-4029-82B9-60B4B0CEC73F}"/>
              </a:ext>
            </a:extLst>
          </p:cNvPr>
          <p:cNvSpPr>
            <a:spLocks xmlns:a="http://schemas.openxmlformats.org/drawingml/2006/main" noGrp="1"/>
          </p:cNvSpPr>
          <p:nvPr/>
        </p:nvSpPr>
        <p:spPr>
          <a:xfrm xmlns:a="http://schemas.openxmlformats.org/drawingml/2006/main">
            <a:off x="10239375" y="6496050"/>
            <a:ext cx="209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444444"/>
                </a:solidFill>
                <a:latin typeface="Arial"/>
                <a:ea typeface="Arial"/>
                <a:cs typeface="Arial"/>
              </a:defRPr>
            </a:pPr>
            <a:r>
              <a:rPr sz="750" b="0">
                <a:solidFill>
                  <a:srgbClr val="444444"/>
                </a:solidFill>
                <a:latin typeface="Arial"/>
                <a:ea typeface="Arial"/>
                <a:cs typeface="Arial"/>
              </a:rPr>
              <a:t>4</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b5813a1920c4746">
            <a:extLst>
              <a:ext uri="{96DAC541-7B7A-43D3-8B79-37D633B846F1}">
                <asvg:svgBlip xmlns:asvg="http://schemas.microsoft.com/office/drawing/2016/SVG/main" r:embed="R21fd1f983a984f9d"/>
              </a:ext>
            </a:extLst>
          </a:blip>
          <a:stretch xmlns:a="http://schemas.openxmlformats.org/drawingml/2006/main"/>
        </p:blipFill>
        <p:spPr>
          <a:xfrm xmlns:a="http://schemas.openxmlformats.org/drawingml/2006/main">
            <a:off x="10620375" y="6334125"/>
            <a:ext cx="1333500" cy="390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6819990-65CC-4798-B14D-55AA1A5C52BC}"/>
              </a:ext>
            </a:extLst>
          </p:cNvPr>
          <p:cNvSpPr>
            <a:spLocks xmlns:a="http://schemas.openxmlformats.org/drawingml/2006/main" noGrp="1"/>
          </p:cNvSpPr>
          <p:nvPr/>
        </p:nvSpPr>
        <p:spPr>
          <a:xfrm xmlns:a="http://schemas.openxmlformats.org/drawingml/2006/main">
            <a:off x="733425" y="10096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163BFF"/>
                </a:solidFill>
                <a:latin typeface="Arial"/>
                <a:ea typeface="Arial"/>
                <a:cs typeface="Arial"/>
              </a:defRPr>
            </a:pPr>
            <a:r>
              <a:rPr sz="2250" b="1">
                <a:solidFill>
                  <a:srgbClr val="163BFF"/>
                </a:solidFill>
                <a:latin typeface="Arial"/>
                <a:ea typeface="Arial"/>
                <a:cs typeface="Arial"/>
              </a:rPr>
              <a:t>SAP RPT with balanced context</a:t>
            </a:r>
          </a:p>
        </p:txBody>
      </p:sp>
      <p:sp>
        <p:nvSpPr>
          <p:cNvPr id="8" name="">
            <a:extLst xmlns:a="http://schemas.openxmlformats.org/drawingml/2006/main">
              <a:ext uri="{FF2B5EF4-FFF2-40B4-BE49-F238E27FC236}">
                <a16:creationId xmlns:a16="http://schemas.microsoft.com/office/drawing/2014/main" id="{788210A3-E3D0-4E2C-8A90-13DD8F484BE9}"/>
              </a:ext>
            </a:extLst>
          </p:cNvPr>
          <p:cNvSpPr>
            <a:spLocks xmlns:a="http://schemas.openxmlformats.org/drawingml/2006/main" noGrp="1"/>
          </p:cNvSpPr>
          <p:nvPr/>
        </p:nvSpPr>
        <p:spPr>
          <a:xfrm xmlns:a="http://schemas.openxmlformats.org/drawingml/2006/main">
            <a:off x="914400" y="1762125"/>
            <a:ext cx="3076575" cy="1190625"/>
          </a:xfrm>
          <a:prstGeom xmlns:a="http://schemas.openxmlformats.org/drawingml/2006/main" prst="roundRect">
            <a:avLst>
              <a:gd name="adj" fmla="val 12800"/>
            </a:avLst>
          </a:prstGeom>
          <a:solidFill xmlns:a="http://schemas.openxmlformats.org/drawingml/2006/main">
            <a:srgbClr val="D9E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7FCC25-4D61-4316-92F7-04D545C51591}"/>
              </a:ext>
            </a:extLst>
          </p:cNvPr>
          <p:cNvSpPr>
            <a:spLocks xmlns:a="http://schemas.openxmlformats.org/drawingml/2006/main" noGrp="1"/>
          </p:cNvSpPr>
          <p:nvPr/>
        </p:nvSpPr>
        <p:spPr>
          <a:xfrm xmlns:a="http://schemas.openxmlformats.org/drawingml/2006/main">
            <a:off x="1009650" y="1866900"/>
            <a:ext cx="2886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163BFF"/>
                </a:solidFill>
                <a:latin typeface="Arial"/>
                <a:ea typeface="Arial"/>
                <a:cs typeface="Arial"/>
              </a:defRPr>
            </a:pPr>
            <a:r>
              <a:rPr sz="1425" b="1">
                <a:solidFill>
                  <a:srgbClr val="163BFF"/>
                </a:solidFill>
                <a:latin typeface="Arial"/>
                <a:ea typeface="Arial"/>
                <a:cs typeface="Arial"/>
              </a:rPr>
              <a:t>Fraud recall</a:t>
            </a:r>
          </a:p>
        </p:txBody>
      </p:sp>
      <p:sp>
        <p:nvSpPr>
          <p:cNvPr id="10" name="">
            <a:extLst xmlns:a="http://schemas.openxmlformats.org/drawingml/2006/main">
              <a:ext uri="{FF2B5EF4-FFF2-40B4-BE49-F238E27FC236}">
                <a16:creationId xmlns:a16="http://schemas.microsoft.com/office/drawing/2014/main" id="{511EDC69-6CEA-4C25-BCA1-C1E4B503A9EA}"/>
              </a:ext>
            </a:extLst>
          </p:cNvPr>
          <p:cNvSpPr>
            <a:spLocks xmlns:a="http://schemas.openxmlformats.org/drawingml/2006/main" noGrp="1"/>
          </p:cNvSpPr>
          <p:nvPr/>
        </p:nvSpPr>
        <p:spPr>
          <a:xfrm xmlns:a="http://schemas.openxmlformats.org/drawingml/2006/main">
            <a:off x="990600" y="2257425"/>
            <a:ext cx="2924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1111"/>
                </a:solidFill>
                <a:latin typeface="Arial"/>
                <a:ea typeface="Arial"/>
                <a:cs typeface="Arial"/>
              </a:defRPr>
            </a:pPr>
            <a:r>
              <a:rPr sz="2025" b="1">
                <a:solidFill>
                  <a:srgbClr val="111111"/>
                </a:solidFill>
                <a:latin typeface="Arial"/>
                <a:ea typeface="Arial"/>
                <a:cs typeface="Arial"/>
              </a:rPr>
              <a:t>45.5%  to  72.7%</a:t>
            </a:r>
          </a:p>
        </p:txBody>
      </p:sp>
      <p:sp>
        <p:nvSpPr>
          <p:cNvPr id="11" name="">
            <a:extLst xmlns:a="http://schemas.openxmlformats.org/drawingml/2006/main">
              <a:ext uri="{FF2B5EF4-FFF2-40B4-BE49-F238E27FC236}">
                <a16:creationId xmlns:a16="http://schemas.microsoft.com/office/drawing/2014/main" id="{69FA5BB8-F815-4E0A-B256-E6B35DA38D30}"/>
              </a:ext>
            </a:extLst>
          </p:cNvPr>
          <p:cNvSpPr>
            <a:spLocks xmlns:a="http://schemas.openxmlformats.org/drawingml/2006/main" noGrp="1"/>
          </p:cNvSpPr>
          <p:nvPr/>
        </p:nvSpPr>
        <p:spPr>
          <a:xfrm xmlns:a="http://schemas.openxmlformats.org/drawingml/2006/main">
            <a:off x="4562475" y="1762125"/>
            <a:ext cx="3076575" cy="1190625"/>
          </a:xfrm>
          <a:prstGeom xmlns:a="http://schemas.openxmlformats.org/drawingml/2006/main" prst="roundRect">
            <a:avLst>
              <a:gd name="adj" fmla="val 12800"/>
            </a:avLst>
          </a:prstGeom>
          <a:solidFill xmlns:a="http://schemas.openxmlformats.org/drawingml/2006/main">
            <a:srgbClr val="D9E4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250E42-5E3A-4193-BE39-2DC6541F09FF}"/>
              </a:ext>
            </a:extLst>
          </p:cNvPr>
          <p:cNvSpPr>
            <a:spLocks xmlns:a="http://schemas.openxmlformats.org/drawingml/2006/main" noGrp="1"/>
          </p:cNvSpPr>
          <p:nvPr/>
        </p:nvSpPr>
        <p:spPr>
          <a:xfrm xmlns:a="http://schemas.openxmlformats.org/drawingml/2006/main">
            <a:off x="4657725" y="1866900"/>
            <a:ext cx="2886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163BFF"/>
                </a:solidFill>
                <a:latin typeface="Arial"/>
                <a:ea typeface="Arial"/>
                <a:cs typeface="Arial"/>
              </a:defRPr>
            </a:pPr>
            <a:r>
              <a:rPr sz="1425" b="1">
                <a:solidFill>
                  <a:srgbClr val="163BFF"/>
                </a:solidFill>
                <a:latin typeface="Arial"/>
                <a:ea typeface="Arial"/>
                <a:cs typeface="Arial"/>
              </a:rPr>
              <a:t>Fraud F1</a:t>
            </a:r>
          </a:p>
        </p:txBody>
      </p:sp>
      <p:sp>
        <p:nvSpPr>
          <p:cNvPr id="13" name="">
            <a:extLst xmlns:a="http://schemas.openxmlformats.org/drawingml/2006/main">
              <a:ext uri="{FF2B5EF4-FFF2-40B4-BE49-F238E27FC236}">
                <a16:creationId xmlns:a16="http://schemas.microsoft.com/office/drawing/2014/main" id="{221BA025-C166-4EFE-8A69-CB963563DB87}"/>
              </a:ext>
            </a:extLst>
          </p:cNvPr>
          <p:cNvSpPr>
            <a:spLocks xmlns:a="http://schemas.openxmlformats.org/drawingml/2006/main" noGrp="1"/>
          </p:cNvSpPr>
          <p:nvPr/>
        </p:nvSpPr>
        <p:spPr>
          <a:xfrm xmlns:a="http://schemas.openxmlformats.org/drawingml/2006/main">
            <a:off x="4638675" y="2257425"/>
            <a:ext cx="2924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1111"/>
                </a:solidFill>
                <a:latin typeface="Arial"/>
                <a:ea typeface="Arial"/>
                <a:cs typeface="Arial"/>
              </a:defRPr>
            </a:pPr>
            <a:r>
              <a:rPr sz="2025" b="1">
                <a:solidFill>
                  <a:srgbClr val="111111"/>
                </a:solidFill>
                <a:latin typeface="Arial"/>
                <a:ea typeface="Arial"/>
                <a:cs typeface="Arial"/>
              </a:rPr>
              <a:t>0.571  to  0.640</a:t>
            </a:r>
          </a:p>
        </p:txBody>
      </p:sp>
      <p:sp>
        <p:nvSpPr>
          <p:cNvPr id="14" name="">
            <a:extLst xmlns:a="http://schemas.openxmlformats.org/drawingml/2006/main">
              <a:ext uri="{FF2B5EF4-FFF2-40B4-BE49-F238E27FC236}">
                <a16:creationId xmlns:a16="http://schemas.microsoft.com/office/drawing/2014/main" id="{A620BB00-C579-48C4-A282-9EACD4E58ECA}"/>
              </a:ext>
            </a:extLst>
          </p:cNvPr>
          <p:cNvSpPr>
            <a:spLocks xmlns:a="http://schemas.openxmlformats.org/drawingml/2006/main" noGrp="1"/>
          </p:cNvSpPr>
          <p:nvPr/>
        </p:nvSpPr>
        <p:spPr>
          <a:xfrm xmlns:a="http://schemas.openxmlformats.org/drawingml/2006/main">
            <a:off x="8210550" y="1762125"/>
            <a:ext cx="3076575" cy="1190625"/>
          </a:xfrm>
          <a:prstGeom xmlns:a="http://schemas.openxmlformats.org/drawingml/2006/main" prst="roundRect">
            <a:avLst>
              <a:gd name="adj" fmla="val 12800"/>
            </a:avLst>
          </a:prstGeom>
          <a:solidFill xmlns:a="http://schemas.openxmlformats.org/drawingml/2006/main">
            <a:srgbClr val="FFD3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06547B-831A-441A-ADF1-BB4FC43C31AC}"/>
              </a:ext>
            </a:extLst>
          </p:cNvPr>
          <p:cNvSpPr>
            <a:spLocks xmlns:a="http://schemas.openxmlformats.org/drawingml/2006/main" noGrp="1"/>
          </p:cNvSpPr>
          <p:nvPr/>
        </p:nvSpPr>
        <p:spPr>
          <a:xfrm xmlns:a="http://schemas.openxmlformats.org/drawingml/2006/main">
            <a:off x="8305800" y="1866900"/>
            <a:ext cx="2886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163BFF"/>
                </a:solidFill>
                <a:latin typeface="Arial"/>
                <a:ea typeface="Arial"/>
                <a:cs typeface="Arial"/>
              </a:defRPr>
            </a:pPr>
            <a:r>
              <a:rPr sz="1425" b="1">
                <a:solidFill>
                  <a:srgbClr val="163BFF"/>
                </a:solidFill>
                <a:latin typeface="Arial"/>
                <a:ea typeface="Arial"/>
                <a:cs typeface="Arial"/>
              </a:rPr>
              <a:t>False alarms</a:t>
            </a:r>
          </a:p>
        </p:txBody>
      </p:sp>
      <p:sp>
        <p:nvSpPr>
          <p:cNvPr id="16" name="">
            <a:extLst xmlns:a="http://schemas.openxmlformats.org/drawingml/2006/main">
              <a:ext uri="{FF2B5EF4-FFF2-40B4-BE49-F238E27FC236}">
                <a16:creationId xmlns:a16="http://schemas.microsoft.com/office/drawing/2014/main" id="{14C421F7-2039-412B-BAB6-0F0F93E948B1}"/>
              </a:ext>
            </a:extLst>
          </p:cNvPr>
          <p:cNvSpPr>
            <a:spLocks xmlns:a="http://schemas.openxmlformats.org/drawingml/2006/main" noGrp="1"/>
          </p:cNvSpPr>
          <p:nvPr/>
        </p:nvSpPr>
        <p:spPr>
          <a:xfrm xmlns:a="http://schemas.openxmlformats.org/drawingml/2006/main">
            <a:off x="8286750" y="2257425"/>
            <a:ext cx="2924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1111"/>
                </a:solidFill>
                <a:latin typeface="Arial"/>
                <a:ea typeface="Arial"/>
                <a:cs typeface="Arial"/>
              </a:defRPr>
            </a:pPr>
            <a:r>
              <a:rPr sz="2025" b="1">
                <a:solidFill>
                  <a:srgbClr val="111111"/>
                </a:solidFill>
                <a:latin typeface="Arial"/>
                <a:ea typeface="Arial"/>
                <a:cs typeface="Arial"/>
              </a:rPr>
              <a:t>3  to  12</a:t>
            </a:r>
          </a:p>
        </p:txBody>
      </p:sp>
      <p:sp>
        <p:nvSpPr>
          <p:cNvPr id="17" name="">
            <a:extLst xmlns:a="http://schemas.openxmlformats.org/drawingml/2006/main">
              <a:ext uri="{FF2B5EF4-FFF2-40B4-BE49-F238E27FC236}">
                <a16:creationId xmlns:a16="http://schemas.microsoft.com/office/drawing/2014/main" id="{6CDFA7D9-9670-4951-B4C7-A44DB9A30CD6}"/>
              </a:ext>
            </a:extLst>
          </p:cNvPr>
          <p:cNvSpPr>
            <a:spLocks xmlns:a="http://schemas.openxmlformats.org/drawingml/2006/main" noGrp="1"/>
          </p:cNvSpPr>
          <p:nvPr/>
        </p:nvSpPr>
        <p:spPr>
          <a:xfrm xmlns:a="http://schemas.openxmlformats.org/drawingml/2006/main">
            <a:off x="914400" y="3286125"/>
            <a:ext cx="10372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same balancing step also raised XGBoost fraud F1 from 0.385 to 0.457.</a:t>
            </a:r>
          </a:p>
        </p:txBody>
      </p:sp>
      <p:sp>
        <p:nvSpPr>
          <p:cNvPr id="18" name="">
            <a:extLst xmlns:a="http://schemas.openxmlformats.org/drawingml/2006/main">
              <a:ext uri="{FF2B5EF4-FFF2-40B4-BE49-F238E27FC236}">
                <a16:creationId xmlns:a16="http://schemas.microsoft.com/office/drawing/2014/main" id="{35E5D0D3-BBCE-41D2-BB16-9E195E9F26BD}"/>
              </a:ext>
            </a:extLst>
          </p:cNvPr>
          <p:cNvSpPr>
            <a:spLocks xmlns:a="http://schemas.openxmlformats.org/drawingml/2006/main" noGrp="1"/>
          </p:cNvSpPr>
          <p:nvPr/>
        </p:nvSpPr>
        <p:spPr>
          <a:xfrm xmlns:a="http://schemas.openxmlformats.org/drawingml/2006/main">
            <a:off x="914400" y="3829050"/>
            <a:ext cx="10372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SAP RPT late-payment F1 changed from 0.511 to 0.505.</a:t>
            </a:r>
          </a:p>
        </p:txBody>
      </p:sp>
      <p:sp>
        <p:nvSpPr>
          <p:cNvPr id="19" name="">
            <a:extLst xmlns:a="http://schemas.openxmlformats.org/drawingml/2006/main">
              <a:ext uri="{FF2B5EF4-FFF2-40B4-BE49-F238E27FC236}">
                <a16:creationId xmlns:a16="http://schemas.microsoft.com/office/drawing/2014/main" id="{F2A51BD5-7D79-43D2-9835-9CAB39216E23}"/>
              </a:ext>
            </a:extLst>
          </p:cNvPr>
          <p:cNvSpPr>
            <a:spLocks xmlns:a="http://schemas.openxmlformats.org/drawingml/2006/main" noGrp="1"/>
          </p:cNvSpPr>
          <p:nvPr/>
        </p:nvSpPr>
        <p:spPr>
          <a:xfrm xmlns:a="http://schemas.openxmlformats.org/drawingml/2006/main">
            <a:off x="914400" y="4476750"/>
            <a:ext cx="10372725" cy="733425"/>
          </a:xfrm>
          <a:prstGeom xmlns:a="http://schemas.openxmlformats.org/drawingml/2006/main" prst="roundRect">
            <a:avLst>
              <a:gd name="adj" fmla="val 15584"/>
            </a:avLst>
          </a:prstGeom>
          <a:solidFill xmlns:a="http://schemas.openxmlformats.org/drawingml/2006/main">
            <a:srgbClr val="E8EE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A75BF81-7138-4143-B50A-E780E3559F82}"/>
              </a:ext>
            </a:extLst>
          </p:cNvPr>
          <p:cNvSpPr>
            <a:spLocks xmlns:a="http://schemas.openxmlformats.org/drawingml/2006/main" noGrp="1"/>
          </p:cNvSpPr>
          <p:nvPr/>
        </p:nvSpPr>
        <p:spPr>
          <a:xfrm xmlns:a="http://schemas.openxmlformats.org/drawingml/2006/main">
            <a:off x="1104900" y="4562475"/>
            <a:ext cx="9991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Interpretation: the context exposed more fraud examples, shifting the detection and alert tradeoff.</a:t>
            </a:r>
          </a:p>
        </p:txBody>
      </p:sp>
      <p:sp>
        <p:nvSpPr>
          <p:cNvPr id="21" name="">
            <a:extLst xmlns:a="http://schemas.openxmlformats.org/drawingml/2006/main">
              <a:ext uri="{FF2B5EF4-FFF2-40B4-BE49-F238E27FC236}">
                <a16:creationId xmlns:a16="http://schemas.microsoft.com/office/drawing/2014/main" id="{00053274-D159-46D2-BE55-B1357A231532}"/>
              </a:ext>
            </a:extLst>
          </p:cNvPr>
          <p:cNvSpPr>
            <a:spLocks xmlns:a="http://schemas.openxmlformats.org/drawingml/2006/main" noGrp="1"/>
          </p:cNvSpPr>
          <p:nvPr/>
        </p:nvSpPr>
        <p:spPr>
          <a:xfrm xmlns:a="http://schemas.openxmlformats.org/drawingml/2006/main">
            <a:off x="914400" y="5372100"/>
            <a:ext cx="10372725" cy="523875"/>
          </a:xfrm>
          <a:prstGeom xmlns:a="http://schemas.openxmlformats.org/drawingml/2006/main" prst="roundRect">
            <a:avLst>
              <a:gd name="adj" fmla="val 16364"/>
            </a:avLst>
          </a:prstGeom>
          <a:solidFill xmlns:a="http://schemas.openxmlformats.org/drawingml/2006/main">
            <a:srgbClr val="FFD33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9F60427-1B3A-4FA1-97A3-B26D6582EE2E}"/>
              </a:ext>
            </a:extLst>
          </p:cNvPr>
          <p:cNvSpPr>
            <a:spLocks xmlns:a="http://schemas.openxmlformats.org/drawingml/2006/main" noGrp="1"/>
          </p:cNvSpPr>
          <p:nvPr/>
        </p:nvSpPr>
        <p:spPr>
          <a:xfrm xmlns:a="http://schemas.openxmlformats.org/drawingml/2006/main">
            <a:off x="1066800" y="5429250"/>
            <a:ext cx="10067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11111"/>
                </a:solidFill>
                <a:latin typeface="Arial"/>
                <a:ea typeface="Arial"/>
                <a:cs typeface="Arial"/>
              </a:defRPr>
            </a:pPr>
            <a:r>
              <a:rPr sz="1350" b="1">
                <a:solidFill>
                  <a:srgbClr val="111111"/>
                </a:solidFill>
                <a:latin typeface="Arial"/>
                <a:ea typeface="Arial"/>
                <a:cs typeface="Arial"/>
              </a:rPr>
              <a:t>Limits: synthetic invoices, one fixed holdout, 22 fraud cases, one selection seed.</a:t>
            </a:r>
          </a:p>
        </p:txBody>
      </p:sp>
    </p:spTree>
    <p:extLst>
      <p:ext uri="{BB962C8B-B14F-4D97-AF65-F5344CB8AC3E}">
        <p14:creationId xmlns:p14="http://schemas.microsoft.com/office/powerpoint/2010/main" val="235665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2026-10-14T18:06:05.0330000Z</dcterms:created>
  <dcterms:modified xsi:type="dcterms:W3CDTF">2026-10-14T18:06:05.0330000Z</dcterms:modified>
</coreProperties>
</file>