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80d1733c3b4027" /><Relationship Type="http://schemas.openxmlformats.org/officeDocument/2006/relationships/extended-properties" Target="/docProps/app.xml" Id="Rec2d47e4f3ff438a" /><Relationship Type="http://schemas.openxmlformats.org/officeDocument/2006/relationships/officeDocument" Target="/ppt/presentation.xml" Id="R7e3f220f215c41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67025329684f97"/>
  </p:sldMasterIdLst>
  <p:notesMasterIdLst>
    <p:notesMasterId xmlns:r="http://schemas.openxmlformats.org/officeDocument/2006/relationships" r:id="Raa203024753240a0"/>
  </p:notesMasterIdLst>
  <p:sldIdLst>
    <p:sldId xmlns:r="http://schemas.openxmlformats.org/officeDocument/2006/relationships" id="256" r:id="R81e263396ab14d1c"/>
    <p:sldId xmlns:r="http://schemas.openxmlformats.org/officeDocument/2006/relationships" id="257" r:id="R17770b3694774a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4036b3de164c9b" /><Relationship Type="http://schemas.openxmlformats.org/officeDocument/2006/relationships/slideMaster" Target="/ppt/slideMasters/slideMaster1.xml" Id="Ra967025329684f97" /><Relationship Type="http://schemas.openxmlformats.org/officeDocument/2006/relationships/notesMaster" Target="/ppt/notesMasters/notesMaster1.xml" Id="Raa203024753240a0" /><Relationship Type="http://schemas.openxmlformats.org/officeDocument/2006/relationships/presProps" Target="/ppt/presProps.xml" Id="Rd6589b9a28994476" /><Relationship Type="http://schemas.openxmlformats.org/officeDocument/2006/relationships/tableStyles" Target="/ppt/tableStyles.xml" Id="Rd473ca096c6a4151" /><Relationship Type="http://schemas.openxmlformats.org/officeDocument/2006/relationships/slide" Target="/ppt/slides/slide1.xml" Id="R81e263396ab14d1c" /><Relationship Type="http://schemas.openxmlformats.org/officeDocument/2006/relationships/slide" Target="/ppt/slides/slide2.xml" Id="R17770b3694774a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b3a3ca05c347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929474e7644533" /><Relationship Type="http://schemas.openxmlformats.org/officeDocument/2006/relationships/notesMaster" Target="/ppt/notesMasters/notesMaster1.xml" Id="R87ea90b6ea4843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0b37f88391491e" /><Relationship Type="http://schemas.openxmlformats.org/officeDocument/2006/relationships/notesMaster" Target="/ppt/notesMasters/notesMaster1.xml" Id="R906d2635186948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notebooks/after_context_engineering/01_original_22_case_after_benchmark.ipynb; saved chart in reports/figures/original22_rpt_fraud_random_vs_balanced.png; metrics in data/original_context_comparison/results.csv. Both conditions use the original 22-fraud-case synthetic holdout and seed 11. Random context: recall 45.5%, precision 76.9%, F1 0.571, 10 true positives, 3 false positives. Balanced context: recall 72.7%, precision 57.1%, F1 0.640, 16 true positives, 12 false positives. This is descriptive evidence from one split and one seed.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notebooks/context_engineering/00_original_22_case_context_workflow.ipynb and reports/original_22_case_context_comparison.md. The first 1,024 original synthetic invoices form the eligible context pool. The final 128, including 22 fraud cases, are held out. With seed 11, the random 128-row context has 27 fraud cases; the balanced 128-row context has 64. Request construction checks unique IDs, masks the requested test target, and omits the other target to avoid leakage. SAP RPT weights remain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b247fa02ef45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888b5f7d084ccf" /><Relationship Type="http://schemas.openxmlformats.org/officeDocument/2006/relationships/slideLayout" Target="/ppt/slideLayouts/slideLayout1.xml" Id="R536d26c67acd41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6d26c67acd41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62820b2a04420" /><Relationship Type="http://schemas.openxmlformats.org/officeDocument/2006/relationships/image" Target="/ppt/media/image.png" Id="R8cc181ca1dbb4c37" /><Relationship Type="http://schemas.openxmlformats.org/officeDocument/2006/relationships/image" Target="/ppt/media/image.svg" Id="R6addb5b6057f40a3" /><Relationship Type="http://schemas.openxmlformats.org/officeDocument/2006/relationships/image" Target="/ppt/media/image2.png" Id="Rdc0da403a032441c" /><Relationship Type="http://schemas.openxmlformats.org/officeDocument/2006/relationships/notesSlide" Target="/ppt/notesSlides/notesSlide1.xml" Id="Reedd7cff9fd447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7dbc2b50d46f1" /><Relationship Type="http://schemas.openxmlformats.org/officeDocument/2006/relationships/image" Target="/ppt/media/image3.png" Id="R8ba17526c959459f" /><Relationship Type="http://schemas.openxmlformats.org/officeDocument/2006/relationships/image" Target="/ppt/media/image2.svg" Id="Rea92e66631e841e6" /><Relationship Type="http://schemas.openxmlformats.org/officeDocument/2006/relationships/notesSlide" Target="/ppt/notesSlides/notesSlide2.xml" Id="Ra889096c826d4a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06AA72-DF58-4077-B4B0-0CC2EF3A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647700"/>
            <a:ext cx="43815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C569F-2830-4057-8400-C000B513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"/>
            <a:ext cx="3400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BFF"/>
                </a:solidFill>
                <a:latin typeface="Arial"/>
                <a:ea typeface="Arial"/>
                <a:cs typeface="Arial"/>
              </a:rPr>
              <a:t>Context selection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E8201-DEE2-4E39-89BE-04ACA25D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52450"/>
            <a:ext cx="7934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| SAP RPT fraud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AD1BD-067C-4E34-AB68-AE7CF204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2026 SAP Fioneer. All rights reserved.  |  Public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55915-B929-4CE5-BB2F-185D995A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4198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181ca1dbb4c37">
            <a:extLst>
              <a:ext uri="{96DAC541-7B7A-43D3-8B79-37D633B846F1}">
                <asvg:svgBlip xmlns:asvg="http://schemas.microsoft.com/office/drawing/2016/SVG/main" r:embed="R6addb5b6057f40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91750" y="6257925"/>
            <a:ext cx="1323975" cy="3905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7DC78-66FA-4D14-9D27-FBEB92A5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3B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BFF"/>
                </a:solidFill>
                <a:latin typeface="Arial"/>
                <a:ea typeface="Arial"/>
                <a:cs typeface="Arial"/>
              </a:rPr>
              <a:t>Does the choice of context rows change SAP RPT predictions?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da403a032441c"/>
          <a:stretch xmlns:a="http://schemas.openxmlformats.org/drawingml/2006/main"/>
        </p:blipFill>
        <p:spPr>
          <a:xfrm xmlns:a="http://schemas.openxmlformats.org/drawingml/2006/main">
            <a:off x="1625290" y="2133600"/>
            <a:ext cx="5321920" cy="31623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86D68-2248-4785-A266-6226F4D3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05025"/>
            <a:ext cx="3371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B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BFF"/>
                </a:solidFill>
                <a:latin typeface="Arial"/>
                <a:ea typeface="Arial"/>
                <a:cs typeface="Arial"/>
              </a:rPr>
              <a:t>Matched 128-row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32ABB-9655-4D02-8B3E-B90605ED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95550"/>
            <a:ext cx="3362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3BEEE-F98E-4CDF-B80A-F0A50321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67000"/>
            <a:ext cx="3362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Random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A1B7F-9601-4753-8D5F-CC882E8A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90850"/>
            <a:ext cx="3362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 of 22 fraud cases found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 false alarms; F1 0.571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A56BB-D29D-4C49-BB82-18EB1FBF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71900"/>
            <a:ext cx="3362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Balanced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5D851-7CDA-4CF0-B3A7-324F5B52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95750"/>
            <a:ext cx="33623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16 of 22 fraud cases found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12 false alarms; F1 0.640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41849-3A5D-4AD6-921C-A6259EF2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791825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D33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E4906-E3C1-427C-ACDC-72B141B0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76900"/>
            <a:ext cx="105060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Six more fraud cases detected, with nine more false alarms.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5AF64-E447-4562-98DE-F557227E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43625"/>
            <a:ext cx="10791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444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Same 128 test invoices, same context budget, same SAP RPT weights.</a:t>
            </a:r>
          </a:p>
        </p:txBody>
      </p:sp>
    </p:spTree>
    <p:extLst>
      <p:ext uri="{BB962C8B-B14F-4D97-AF65-F5344CB8AC3E}">
        <p14:creationId xmlns:p14="http://schemas.microsoft.com/office/powerpoint/2010/main" val="18004401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45CB29-81FA-4BA3-8B4A-88428E49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647700"/>
            <a:ext cx="438150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CACE8-8364-4F58-BB94-112D762A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"/>
            <a:ext cx="440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B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BFF"/>
                </a:solidFill>
                <a:latin typeface="Arial"/>
                <a:ea typeface="Arial"/>
                <a:cs typeface="Arial"/>
              </a:rPr>
              <a:t>In-context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A7F47-8F0A-4B53-A1B6-D4F7895C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52450"/>
            <a:ext cx="6934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| How we built the SAP RPT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A0FC5-9AB4-4DE5-AAE2-8571DA73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2026 SAP Fioneer. All rights reserved.  |  Public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B23C1-85D5-4416-B622-11374324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419850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17526c959459f">
            <a:extLst>
              <a:ext uri="{96DAC541-7B7A-43D3-8B79-37D633B846F1}">
                <asvg:svgBlip xmlns:asvg="http://schemas.microsoft.com/office/drawing/2016/SVG/main" r:embed="Rea92e66631e841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91750" y="6257925"/>
            <a:ext cx="1323975" cy="3905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AC927-0E66-48F4-8E49-800C4EC6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B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BFF"/>
                </a:solidFill>
                <a:latin typeface="Arial"/>
                <a:ea typeface="Arial"/>
                <a:cs typeface="Arial"/>
              </a:rPr>
              <a:t>SAP RPT weights stayed fixed; only the labeled context rows changed.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4D93D-126D-4060-98C1-3FA10C6F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3B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3BFF"/>
                </a:solidFill>
                <a:latin typeface="Arial"/>
                <a:ea typeface="Arial"/>
                <a:cs typeface="Arial"/>
              </a:rPr>
              <a:t>1,024 eligible labeled invoices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102A7-F5AF-46D4-8F96-FDF6DDE0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19375"/>
            <a:ext cx="20764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9E4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DB5FE-14EE-4E20-AFB6-7D557BDF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051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Select 128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178CA-F942-4195-B434-AC4F27E6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19400"/>
            <a:ext cx="6286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952CD-6384-4BD6-B364-AC93CEEF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638425"/>
            <a:ext cx="28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25385-860E-4D85-AFD8-D1746F29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57450"/>
            <a:ext cx="5248275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D33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0C695-FB6A-49AD-8116-BC6626A1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81275"/>
            <a:ext cx="48672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Random: 27 fraud, 101 nonfraud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Balanced: 64 fraud, 64 nonfraud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5F721-FE16-474C-9C6A-78F513E2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B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BFF"/>
                </a:solidFill>
                <a:latin typeface="Arial"/>
                <a:ea typeface="Arial"/>
                <a:cs typeface="Arial"/>
              </a:rPr>
              <a:t>Request and evaluation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AF916-5AAC-4B5D-BF68-209631DA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BA93B-DE85-4B4F-B423-02909093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957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33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90DC0-CDE7-4B34-A2F2-5B5C03B9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B54B32-A534-4008-AF81-101A84F0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672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Keep the final 128 test invoices outside the context pool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EE4A2-B287-4521-BB34-967A12F5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33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6F78B5-0FB1-4867-91FE-678FCE4A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D66BA8-34D9-4219-9477-1EA5EFA2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6672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Verify unique invoice IDs and selected class counts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FA9C1A-CD36-4EED-A909-AD433E0B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33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446D9A-9FF4-44F0-B0A6-3F4D12E4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CD37ED-BFCF-493D-95ED-AEAE374D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06730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Mask the test target; omit the other target column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D335C9-2E90-4990-BE12-0C96BE8B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959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33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9E2BD4-60D2-4950-B508-7AEF3A21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A35330-9C22-4B21-8791-945A1A8F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467350"/>
            <a:ext cx="981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Predict the same held-out invoice IDs in both conditions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548C26-1A2F-45D2-85D8-2F9D847B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72175"/>
            <a:ext cx="10648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621241-DB35-41E2-9165-E2B5CE22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019800"/>
            <a:ext cx="1040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comparison tests context selection without retraining SAP RPT.</a:t>
            </a:r>
          </a:p>
        </p:txBody>
      </p:sp>
    </p:spTree>
    <p:extLst>
      <p:ext uri="{BB962C8B-B14F-4D97-AF65-F5344CB8AC3E}">
        <p14:creationId xmlns:p14="http://schemas.microsoft.com/office/powerpoint/2010/main" val="16983036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2026-10-14T19:54:18.8150000Z</dcterms:created>
  <dcterms:modified xsi:type="dcterms:W3CDTF">2026-10-14T19:54:18.8160000Z</dcterms:modified>
</coreProperties>
</file>